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Presentarse en una frase. Mensaje clave: "no vengo a dar teoría; vais a gobernar un agente de IA real con código vuestro, dentro de la app OpenCode y con modelos gratis — sin cuentas, sin API keys, sin pagar nada". La app gestiona una flota de bicis eléctricas. Preguntar a mano alzada: ¿quién ha usado ChatGPT? ¿quién ha usado un agente de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Vender el arco narrativo: empiezan con un chat que olvida y alucina y acaban con un agente que resuelve tickets de mantenimiento solo. Todo ocurre dentro de OpenCode, pero lo que gobierna al modelo es código suyo: una regla, un plugin, dos tools y un agente. Cada fallo de la app es un concepto real de la ingeniería de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Enseñar los tiempos y avisar: "los que terminéis antes, ayudáis al de al lado — enseñar es la mejor forma de aprender". No hace falta memorizar nada: el trabajo está marcado en el proyecto con comentarios `TODO (Module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concepto más importante del taller. El modelo es una función matemática gigante: `f(texto) → texto`. Cuando parezca que "recuerda", "consulta" o "actúa", en realidad es el software que lo rodea — hoy ese software es OpenCode más el código que ellos escribirán.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Enseñar el ejemplo troceando la frase en la pizarra si hace falta. Por qué importa: el modelo tiene un límite máximo de tokens por llamada y los tokens son la "moneda" de las APIs (los modelos gratis de hoy también tienen límite). En el Módulo 1 verán el contador de tokens de la app crecer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la analogía: es como hablar con alguien con amnesia total al que le pasas una transcripción escrita de toda la conversación en cada frase. Esto ES el Módulo 1 que experimentarán en 10 minutos. Que quede claro: la "memoria" del chat es software (la sesión), no magia.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mapa del taller: cada fila es un módulo. OpenCode hace de middleware: empaqueta el contexto, ofrece las tools al modelo y ejecuta lo que el modelo pide. Ellos no van a programar un cliente desde cero; van a gobernar un agente profesional: reglas, guard, tools y agente autónomo.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 checkpoint. Todos los equipos son Windows: descargar "OpenCode Desktop — Windows (x64)" desde opencode.ai/download. Tener los instaladores descargados de antemano (USB) por si el WiFi del aula va lento. Recalcar la ventaja frente a otros talleres: sin registro, sin tarjeta, sin keys — los modelos gratuitos vienen integrados. Avisar: al abrir el proyecto por primera vez, la app auto-instala las dependencias del plugin en `.opencode/` — necesita internet solo esa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caminos, ambos Windows: `git clone` en PowerShell (Git for Windows) o el botón "Code → Download ZIP" de GitHub y descomprimir. Después, todos abren la carpeta `starter/` en la app (File → Open Folder). Paseo de 30 segundos por el árbol: `AGENTS.md` (las reglas), `.opencode/tools` (las tools), `.opencode/plugins` (el guard), `.opencode/agents` (el agente), `database.sqlite`. Advertencia simpática sobre `solution/`: mirarla es hacerse spoiler a uno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Enseñar el selector de modelos en la parte inferior. La primera ejecución descarga las dependencias del plugin en `.opencode/` — solo una vez y necesita red. Avisar del quirk verificado: los endpoints gratuitos hacen rate limit; si sale "No provider available", esperar medio minuto y reintentar, o cambiar a otro modelo gratis.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jueguen 1-2 minutos. NO explicar todavía: en el Módulo 1 abrirán una sesión nueva y descubrirán la amnesia por sí mismos. Presentar el tutorial guiado: el proyecto trae 4 comandos (`/module-1` … `/module-4`); al escribirlos, la IA se convierte en su tutor paso a paso — da pistas, no soluciones, y nunca hace el trabajo por ellos. Checkpoint: todos han hablado con el modelo al menos una vez. Fin del Setup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proyectada. Pregunta guía: "¿por qué la sesión nueva no sabe tu nombre?" Respuesta: el modelo nunca supo nada — cada llamada solo ve el texto de la sesión actual; la memoria era la sesión, no el modelo. Conectar con la slide 6. Que lo repitan en sus equipos (5 min). Recordar que, si se quedan atrás, pueden lanzar el tutor guiado con `/module-1`.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Señalar el contador de tokens creciendo con cada mensaje: es la prueba visible de que la app reenvía toda la conversación. Conectar con la slide 5 (presupuesto). Ejecutar `/compact`: la app resume el historial viejo para que quepa en la ventana — la técnica profesional de verdad. El nombre sobrevive al resumen.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AGENTS.md es la memoria persistente del proyecto: cada sesión nueva la lee antes de empezar. Abrir `starter/AGENTS.md` y leerla con ellos: describe la flota, la base de datos SQLite y las cuatro tools. Ahí escribirán su regla de grounding en el Módulo 2 — es el mismo mecanismo que usa `/init`.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FUERA del proyecto (ventana sin el proyecto abierto — dentro de `starter/` el modelo ve las tools y se porta demasiado bien). Verificado con Big Pickle: con el prompt insistente inventa un informe completo con IDs, baterías y averías; preguntado con educación, admite que no tiene datos. Ese contraste ES la lección: su trabajo es sonar plausible, no decir la verdad. Palabra del día: **hallucination**. Discusión de 1 minuto. Recordar que, si se quedan atrás, pueden lanzar el tutor guiado con `/module-2`.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diferencia no es un modelo más listo: es acceso a datos reales — esto es grounding (RAG en su versión mínima). Las tools de lectura ya vienen hechas; su trabajo es la regla en el marcador `TODO (Module 2)` de AGENTS.md. Test: NUEVA sesión (los cambios solo aplican a sesiones nuevas), preguntar por la flota → la respuesta debe citar #3, #7 y #5 reales. Si un modelo ignora la regla: ponerla primera, en mayúsculas y nombrando las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Concepto de hook/middleware: un punto de intercepción donde tu código puede inspeccionar y modificar lo que el modelo está a punto de hacer. Patrón general del software, no solo de IA. En OpenCode los plugins envuelven cada ejecución de tool; el hook `tool.execute.before` puede bloquear — y es determinista: no depende del humor del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Implementación (~10 min): solo inspeccionar la tool `bash`, leer `output.args.command`, pasarlo a minúsculas y, si contiene algo de `BLOCKED`, lanzar el Error — el modelo ve el mensaje de bloqueo en vez del resultado. Test en vivo: pedirle que ejecute `rm -rf /tmp/whatever` y ver el bloqueo. Nueva sesión para recargar el plugin. Lección: el modelo a veces se niega por sí solo (con `drop table` suele hacerlo), pero el guard bloquea SIEMPRE — es la red de seguridad determinista.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Nueva limitación. El proyecto solo trae tools de lectura: por muy bien que hable, sin una tool de escritura no puede ejecutar el `UPDATE`. Pregunta puente: "¿cómo le daríamos manos de verdad?" La respuesta: custom tools propias. Recordar que, si se quedan atrás, pueden lanzar el tutor guiado con `/module-3`.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Anatomía de una tool: OpenCode carga cada archivo de `.opencode/tools/` y cada export se convierte en una tool llamada `&lt;fichero&gt;_&lt;export&gt;`. El modelo solo ve la descripción y el esquema de argumentos, y decide cuándo llamarla y con qué datos; quien ejecuta el SQL es NUESTRO código. Recordar la implicación de seguridad: nunca ejecutar a ciegas — de ahí el guard y los permisos ask/allow de la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parte más "de verdad" del taller (~12-15 min). Las pistas están en los comentarios del stub: el `SELECT bike_id`, los dos `UPDATE` y el JSON de retorno. Recordatorios: abrir la BD con `openDb(context.directory)`, nueva sesión tras editar, y click en *allow* cuando la app pida permiso. Test verificado: bike #3 pasa a `ok` y los tickets #1 y #4 a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salto conceptual: el bucle deja de ser humano↔IA y pasa a ser IA↔tools. El modelo decide QUÉ tool usar en cada paso según el estado, y para cuando el objetivo está cumplido… o cuando se agota el presupuesto de pasos — el fusible contra bucles infinitos. Recordar que, si se quedan atrás, pueden lanzar el tutor guiado con `/module-4`.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frontmatter YAML: `description` (una línea), `mode: primary` (si no, no aparece en el selector), `steps: 20` y el mapa de tools — aquí directamente deshabilitamos `write`/`edit`/`bash` (los permisos de OpenCode van ask/allow/deny; el agente solo necesita las `fleet_*`). El cuerpo es el system prompt: hay que decir EXPLÍCITAMENTE "vuelve al paso 1 hasta que no queden tickets" o el modelo declara victoria tras el primero. Nueva sesión tras editar.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 final: ejecutar el agente en pantalla grande (~5 min de run). Verificado: itera tres veces (elige un mecánico, p.ej. "Carlos") y se detiene solo con un resumen; incluso reporta que el ticket #4 se cerró automáticamente al arreglar la bici #3. Si para tras un solo ticket: el prompt del bucle es perezoso — buena lección. Si bajan `steps` y se trunca: lección sobre presupuestos de bucle.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con la frase de cierre: los 4 conceptos de hoy son los mismos que usan ChatGPT, Copilot y cualquier agente serio. Ideas para casa: añadir una tool nueva (¿`order_parts`?), endurecer el guard con más patrones o probar otro modelo gratis. Q&amp;A y despedida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cierre. Abrir turno de preguntas y recordar dónde están los materiales: el repo del taller y opencode.ai para seguir practicando en casa (gratis, sin cuenta).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6400800"/>
            <a:ext cx="12188952" cy="109728"/>
          </a:xfrm>
          <a:prstGeom prst="rect">
            <a:avLst/>
          </a:prstGeom>
          <a:solidFill>
            <a:srgbClr val="22C55E"/>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6400800"/>
            <a:ext cx="12188952" cy="109728"/>
          </a:xfrm>
          <a:prstGeom prst="rect">
            <a:avLst/>
          </a:prstGeom>
          <a:solidFill>
            <a:srgbClr val="22C55E"/>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2C55E"/>
          </a:solidFill>
          <a:ln/>
        </p:spPr>
      </p:sp>
      <p:sp>
        <p:nvSpPr>
          <p:cNvPr id="3" name="Shape 1"/>
          <p:cNvSpPr/>
          <p:nvPr/>
        </p:nvSpPr>
        <p:spPr>
          <a:xfrm>
            <a:off x="457200" y="6400800"/>
            <a:ext cx="11274552" cy="4572"/>
          </a:xfrm>
          <a:prstGeom prst="rect">
            <a:avLst/>
          </a:prstGeom>
          <a:solidFill>
            <a:srgbClr val="9CA3AF"/>
          </a:solidFill>
          <a:ln/>
        </p:spPr>
      </p:sp>
      <p:sp>
        <p:nvSpPr>
          <p:cNvPr id="4" name="Text 2"/>
          <p:cNvSpPr/>
          <p:nvPr/>
        </p:nvSpPr>
        <p:spPr>
          <a:xfrm>
            <a:off x="457200" y="6446520"/>
            <a:ext cx="2743200" cy="274320"/>
          </a:xfrm>
          <a:prstGeom prst="rect">
            <a:avLst/>
          </a:prstGeom>
          <a:noFill/>
          <a:ln/>
        </p:spPr>
        <p:txBody>
          <a:bodyPr wrap="square" rtlCol="0" anchor="ctr"/>
          <a:lstStyle/>
          <a:p>
            <a:pPr indent="0" marL="0">
              <a:buNone/>
            </a:pPr>
            <a:r>
              <a:rPr lang="en-US" sz="800" dirty="0">
                <a:solidFill>
                  <a:srgbClr val="9CA3AF"/>
                </a:solidFill>
                <a:latin typeface="Arial" pitchFamily="34" charset="0"/>
                <a:ea typeface="Arial" pitchFamily="34" charset="-122"/>
                <a:cs typeface="Arial" pitchFamily="34" charset="-120"/>
              </a:rPr>
              <a:t>Confidencial</a:t>
            </a:r>
            <a:endParaRPr lang="en-US" sz="8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_COLUM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2C55E"/>
          </a:solidFill>
          <a:ln/>
        </p:spPr>
      </p:sp>
      <p:sp>
        <p:nvSpPr>
          <p:cNvPr id="3" name="Shape 1"/>
          <p:cNvSpPr/>
          <p:nvPr/>
        </p:nvSpPr>
        <p:spPr>
          <a:xfrm>
            <a:off x="457200" y="6400800"/>
            <a:ext cx="11274552" cy="4572"/>
          </a:xfrm>
          <a:prstGeom prst="rect">
            <a:avLst/>
          </a:prstGeom>
          <a:solidFill>
            <a:srgbClr val="9CA3AF"/>
          </a:solidFill>
          <a:ln/>
        </p:spPr>
      </p:sp>
      <p:sp>
        <p:nvSpPr>
          <p:cNvPr id="4" name="Text 2"/>
          <p:cNvSpPr/>
          <p:nvPr/>
        </p:nvSpPr>
        <p:spPr>
          <a:xfrm>
            <a:off x="457200" y="6446520"/>
            <a:ext cx="2743200" cy="274320"/>
          </a:xfrm>
          <a:prstGeom prst="rect">
            <a:avLst/>
          </a:prstGeom>
          <a:noFill/>
          <a:ln/>
        </p:spPr>
        <p:txBody>
          <a:bodyPr wrap="square" rtlCol="0" anchor="ctr"/>
          <a:lstStyle/>
          <a:p>
            <a:pPr indent="0" marL="0">
              <a:buNone/>
            </a:pPr>
            <a:r>
              <a:rPr lang="en-US" sz="800" dirty="0">
                <a:solidFill>
                  <a:srgbClr val="9CA3AF"/>
                </a:solidFill>
                <a:latin typeface="Arial" pitchFamily="34" charset="0"/>
                <a:ea typeface="Arial" pitchFamily="34" charset="-122"/>
                <a:cs typeface="Arial" pitchFamily="34" charset="-120"/>
              </a:rPr>
              <a:t>Confidencial</a:t>
            </a:r>
            <a:endParaRPr lang="en-US" sz="8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RT_SLID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22C55E"/>
          </a:solidFill>
          <a:ln/>
        </p:spPr>
      </p:sp>
      <p:sp>
        <p:nvSpPr>
          <p:cNvPr id="3" name="Shape 1"/>
          <p:cNvSpPr/>
          <p:nvPr/>
        </p:nvSpPr>
        <p:spPr>
          <a:xfrm>
            <a:off x="457200" y="6400800"/>
            <a:ext cx="11274552" cy="4572"/>
          </a:xfrm>
          <a:prstGeom prst="rect">
            <a:avLst/>
          </a:prstGeom>
          <a:solidFill>
            <a:srgbClr val="9CA3AF"/>
          </a:solidFill>
          <a:ln/>
        </p:spPr>
      </p:sp>
      <p:sp>
        <p:nvSpPr>
          <p:cNvPr id="4" name="Text 2"/>
          <p:cNvSpPr/>
          <p:nvPr/>
        </p:nvSpPr>
        <p:spPr>
          <a:xfrm>
            <a:off x="457200" y="6446520"/>
            <a:ext cx="2743200" cy="274320"/>
          </a:xfrm>
          <a:prstGeom prst="rect">
            <a:avLst/>
          </a:prstGeom>
          <a:noFill/>
          <a:ln/>
        </p:spPr>
        <p:txBody>
          <a:bodyPr wrap="square" rtlCol="0" anchor="ctr"/>
          <a:lstStyle/>
          <a:p>
            <a:pPr indent="0" marL="0">
              <a:buNone/>
            </a:pPr>
            <a:r>
              <a:rPr lang="en-US" sz="800" dirty="0">
                <a:solidFill>
                  <a:srgbClr val="9CA3AF"/>
                </a:solidFill>
                <a:latin typeface="Arial" pitchFamily="34" charset="0"/>
                <a:ea typeface="Arial" pitchFamily="34" charset="-122"/>
                <a:cs typeface="Arial" pitchFamily="34" charset="-120"/>
              </a:rPr>
              <a:t>Confidencial</a:t>
            </a:r>
            <a:endParaRPr lang="en-US" sz="8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_DIVIDER">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22C55E"/>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0058400" y="457200"/>
            <a:ext cx="1828800" cy="548640"/>
          </a:xfrm>
          <a:prstGeom prst="rect">
            <a:avLst/>
          </a:prstGeom>
          <a:noFill/>
          <a:ln/>
        </p:spPr>
        <p:txBody>
          <a:bodyPr wrap="square" rtlCol="0" anchor="ctr"/>
          <a:lstStyle/>
          <a:p>
            <a:pPr algn="r" indent="0" marL="0">
              <a:buNone/>
            </a:pPr>
            <a:r>
              <a:rPr lang="en-US" sz="3300" b="1" dirty="0">
                <a:solidFill>
                  <a:srgbClr val="FFFFFF"/>
                </a:solidFill>
                <a:latin typeface="Arial Bold" pitchFamily="34" charset="0"/>
                <a:ea typeface="Arial Bold" pitchFamily="34" charset="-122"/>
                <a:cs typeface="Arial Bold" pitchFamily="34" charset="-120"/>
              </a:rPr>
              <a:t>x</a:t>
            </a:r>
            <a:pPr algn="r" indent="0" marL="0">
              <a:buNone/>
            </a:pPr>
            <a:r>
              <a:rPr lang="en-US" sz="3300" b="1" dirty="0">
                <a:solidFill>
                  <a:srgbClr val="22C55E"/>
                </a:solidFill>
                <a:latin typeface="Arial Bold" pitchFamily="34" charset="0"/>
                <a:ea typeface="Arial Bold" pitchFamily="34" charset="-122"/>
                <a:cs typeface="Arial Bold" pitchFamily="34" charset="-120"/>
              </a:rPr>
              <a:t>P</a:t>
            </a:r>
            <a:pPr algn="r" indent="0" marL="0">
              <a:buNone/>
            </a:pPr>
            <a:r>
              <a:rPr lang="en-US" sz="3300" b="1" dirty="0">
                <a:solidFill>
                  <a:srgbClr val="FFFFFF"/>
                </a:solidFill>
                <a:latin typeface="Arial Bold" pitchFamily="34" charset="0"/>
                <a:ea typeface="Arial Bold" pitchFamily="34" charset="-122"/>
                <a:cs typeface="Arial Bold" pitchFamily="34" charset="-120"/>
              </a:rPr>
              <a:t>egy</a:t>
            </a:r>
            <a:endParaRPr lang="en-US" sz="3300" dirty="0"/>
          </a:p>
        </p:txBody>
      </p:sp>
      <p:sp>
        <p:nvSpPr>
          <p:cNvPr id="3" name="Text 1"/>
          <p:cNvSpPr/>
          <p:nvPr/>
        </p:nvSpPr>
        <p:spPr>
          <a:xfrm>
            <a:off x="11247120" y="5989320"/>
            <a:ext cx="822960" cy="274320"/>
          </a:xfrm>
          <a:prstGeom prst="rect">
            <a:avLst/>
          </a:prstGeom>
          <a:noFill/>
          <a:ln/>
        </p:spPr>
        <p:txBody>
          <a:bodyPr wrap="square" rtlCol="0" anchor="ctr"/>
          <a:lstStyle/>
          <a:p>
            <a:pPr algn="r" indent="0" marL="0">
              <a:buNone/>
            </a:pPr>
            <a:r>
              <a:rPr lang="en-US" sz="900" b="1" dirty="0">
                <a:solidFill>
                  <a:srgbClr val="FFFFFF"/>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FFFFFF"/>
                </a:solidFill>
                <a:latin typeface="Arial Bold" pitchFamily="34" charset="0"/>
                <a:ea typeface="Arial Bold" pitchFamily="34" charset="-122"/>
                <a:cs typeface="Arial Bold" pitchFamily="34" charset="-120"/>
              </a:rPr>
              <a:t>egy</a:t>
            </a:r>
            <a:endParaRPr lang="en-US" sz="900" dirty="0"/>
          </a:p>
        </p:txBody>
      </p:sp>
      <p:sp>
        <p:nvSpPr>
          <p:cNvPr id="4" name="Text 2"/>
          <p:cNvSpPr/>
          <p:nvPr/>
        </p:nvSpPr>
        <p:spPr>
          <a:xfrm>
            <a:off x="822960" y="3657600"/>
            <a:ext cx="10515600" cy="731520"/>
          </a:xfrm>
          <a:prstGeom prst="rect">
            <a:avLst/>
          </a:prstGeom>
          <a:noFill/>
          <a:ln/>
        </p:spPr>
        <p:txBody>
          <a:bodyPr wrap="square" rtlCol="0" anchor="ctr"/>
          <a:lstStyle/>
          <a:p>
            <a:pPr algn="l" indent="0" marL="0">
              <a:buNone/>
            </a:pPr>
            <a:r>
              <a:rPr lang="en-US" sz="5000" dirty="0">
                <a:solidFill>
                  <a:srgbClr val="FFFFFF"/>
                </a:solidFill>
                <a:latin typeface="Arial" pitchFamily="34" charset="0"/>
                <a:ea typeface="Arial" pitchFamily="34" charset="-122"/>
                <a:cs typeface="Arial" pitchFamily="34" charset="-120"/>
              </a:rPr>
              <a:t>AI E-Bike Fleet Manager</a:t>
            </a:r>
            <a:endParaRPr lang="en-US" sz="5000" dirty="0"/>
          </a:p>
        </p:txBody>
      </p:sp>
      <p:sp>
        <p:nvSpPr>
          <p:cNvPr id="5" name="Text 3"/>
          <p:cNvSpPr/>
          <p:nvPr/>
        </p:nvSpPr>
        <p:spPr>
          <a:xfrm>
            <a:off x="822960" y="4389120"/>
            <a:ext cx="10515600" cy="640080"/>
          </a:xfrm>
          <a:prstGeom prst="rect">
            <a:avLst/>
          </a:prstGeom>
          <a:noFill/>
          <a:ln/>
        </p:spPr>
        <p:txBody>
          <a:bodyPr wrap="square" rtlCol="0" anchor="ctr"/>
          <a:lstStyle/>
          <a:p>
            <a:pPr algn="l" indent="0" marL="0">
              <a:buNone/>
            </a:pPr>
            <a:r>
              <a:rPr lang="en-US" sz="4200" dirty="0">
                <a:solidFill>
                  <a:srgbClr val="22C55E"/>
                </a:solidFill>
                <a:latin typeface="Arial Black" pitchFamily="34" charset="0"/>
                <a:ea typeface="Arial Black" pitchFamily="34" charset="-122"/>
                <a:cs typeface="Arial Black" pitchFamily="34" charset="-120"/>
              </a:rPr>
              <a:t>A 90-minute hands-on AI workshop</a:t>
            </a:r>
            <a:endParaRPr lang="en-US" sz="4200" dirty="0"/>
          </a:p>
        </p:txBody>
      </p:sp>
      <p:sp>
        <p:nvSpPr>
          <p:cNvPr id="6" name="Text 4"/>
          <p:cNvSpPr/>
          <p:nvPr/>
        </p:nvSpPr>
        <p:spPr>
          <a:xfrm>
            <a:off x="822960" y="5029200"/>
            <a:ext cx="7315200" cy="365760"/>
          </a:xfrm>
          <a:prstGeom prst="rect">
            <a:avLst/>
          </a:prstGeom>
          <a:noFill/>
          <a:ln/>
        </p:spPr>
        <p:txBody>
          <a:bodyPr wrap="square" rtlCol="0" anchor="ctr"/>
          <a:lstStyle/>
          <a:p>
            <a:pPr algn="l" indent="0" marL="0">
              <a:buNone/>
            </a:pPr>
            <a:r>
              <a:rPr lang="en-US" sz="1400" dirty="0">
                <a:solidFill>
                  <a:srgbClr val="FFFFFF"/>
                </a:solidFill>
                <a:latin typeface="Arial" pitchFamily="34" charset="0"/>
                <a:ea typeface="Arial" pitchFamily="34" charset="-122"/>
                <a:cs typeface="Arial" pitchFamily="34" charset="-120"/>
              </a:rPr>
              <a:t>Naiden Gerov Secondary School · Varna</a:t>
            </a:r>
            <a:endParaRPr lang="en-US" sz="1400" dirty="0"/>
          </a:p>
        </p:txBody>
      </p:sp>
      <p:sp>
        <p:nvSpPr>
          <p:cNvPr id="7" name="Text 5"/>
          <p:cNvSpPr/>
          <p:nvPr/>
        </p:nvSpPr>
        <p:spPr>
          <a:xfrm>
            <a:off x="8229600" y="5852160"/>
            <a:ext cx="3657600" cy="274320"/>
          </a:xfrm>
          <a:prstGeom prst="rect">
            <a:avLst/>
          </a:prstGeom>
          <a:noFill/>
          <a:ln/>
        </p:spPr>
        <p:txBody>
          <a:bodyPr wrap="square" rtlCol="0" anchor="ctr"/>
          <a:lstStyle/>
          <a:p>
            <a:pPr algn="r" indent="0" marL="0">
              <a:buNone/>
            </a:pPr>
            <a:r>
              <a:rPr lang="en-US" sz="1200" dirty="0">
                <a:solidFill>
                  <a:srgbClr val="FFFFFF"/>
                </a:solidFill>
                <a:latin typeface="Arial Black" pitchFamily="34" charset="0"/>
                <a:ea typeface="Arial Black" pitchFamily="34" charset="-122"/>
                <a:cs typeface="Arial Black" pitchFamily="34" charset="-120"/>
              </a:rPr>
              <a:t>90 minutes · Hands-on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The mission</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280160"/>
            <a:ext cx="11274552" cy="457200"/>
          </a:xfrm>
          <a:prstGeom prst="rect">
            <a:avLst/>
          </a:prstGeom>
          <a:noFill/>
          <a:ln/>
        </p:spPr>
        <p:txBody>
          <a:bodyPr wrap="square" rtlCol="0" anchor="ctr"/>
          <a:lstStyle/>
          <a:p>
            <a:pPr indent="0" marL="0">
              <a:buNone/>
            </a:pPr>
            <a:r>
              <a:rPr lang="en-US" sz="1800" b="1" dirty="0">
                <a:solidFill>
                  <a:srgbClr val="111827"/>
                </a:solidFill>
                <a:latin typeface="Arial" pitchFamily="34" charset="0"/>
                <a:ea typeface="Arial" pitchFamily="34" charset="-122"/>
                <a:cs typeface="Arial" pitchFamily="34" charset="-120"/>
              </a:rPr>
              <a:t>Your mission today</a:t>
            </a:r>
            <a:endParaRPr lang="en-US" sz="1800" dirty="0"/>
          </a:p>
        </p:txBody>
      </p:sp>
      <p:sp>
        <p:nvSpPr>
          <p:cNvPr id="6" name="Text 4"/>
          <p:cNvSpPr/>
          <p:nvPr/>
        </p:nvSpPr>
        <p:spPr>
          <a:xfrm>
            <a:off x="457200" y="1920240"/>
            <a:ext cx="11274552" cy="3840480"/>
          </a:xfrm>
          <a:prstGeom prst="rect">
            <a:avLst/>
          </a:prstGeom>
          <a:noFill/>
          <a:ln/>
        </p:spPr>
        <p:txBody>
          <a:bodyPr wrap="square" rtlCol="0" anchor="t"/>
          <a:lstStyle/>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Fix an AI that </a:t>
            </a:r>
            <a:endParaRPr lang="en-US" sz="1600" dirty="0"/>
          </a:p>
          <a:p>
            <a:pPr marL="342900" indent="-342900">
              <a:lnSpc>
                <a:spcPct val="140000"/>
              </a:lnSpc>
              <a:spcAft>
                <a:spcPts val="800"/>
              </a:spcAft>
              <a:buSzPct val="100000"/>
              <a:buChar char="•"/>
            </a:pPr>
            <a:r>
              <a:rPr lang="en-US" sz="1600" b="1" dirty="0">
                <a:solidFill>
                  <a:srgbClr val="16A34A"/>
                </a:solidFill>
                <a:latin typeface="Arial" pitchFamily="34" charset="0"/>
                <a:ea typeface="Arial" pitchFamily="34" charset="-122"/>
                <a:cs typeface="Arial" pitchFamily="34" charset="-120"/>
              </a:rPr>
              <a:t>forgets everything</a:t>
            </a:r>
            <a:endParaRPr lang="en-US" sz="1600" dirty="0"/>
          </a:p>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 (context)</a:t>
            </a:r>
            <a:endParaRPr lang="en-US" sz="1600" dirty="0"/>
          </a:p>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Stop it </a:t>
            </a:r>
            <a:endParaRPr lang="en-US" sz="1600" dirty="0"/>
          </a:p>
          <a:p>
            <a:pPr marL="342900" indent="-342900">
              <a:lnSpc>
                <a:spcPct val="140000"/>
              </a:lnSpc>
              <a:spcAft>
                <a:spcPts val="800"/>
              </a:spcAft>
              <a:buSzPct val="100000"/>
              <a:buChar char="•"/>
            </a:pPr>
            <a:r>
              <a:rPr lang="en-US" sz="1600" b="1" dirty="0">
                <a:solidFill>
                  <a:srgbClr val="16A34A"/>
                </a:solidFill>
                <a:latin typeface="Arial" pitchFamily="34" charset="0"/>
                <a:ea typeface="Arial" pitchFamily="34" charset="-122"/>
                <a:cs typeface="Arial" pitchFamily="34" charset="-120"/>
              </a:rPr>
              <a:t>inventing data</a:t>
            </a:r>
            <a:endParaRPr lang="en-US" sz="1600" dirty="0"/>
          </a:p>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 (grounding)</a:t>
            </a:r>
            <a:endParaRPr lang="en-US" sz="1600" dirty="0"/>
          </a:p>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Give it </a:t>
            </a:r>
            <a:endParaRPr lang="en-US" sz="1600" dirty="0"/>
          </a:p>
          <a:p>
            <a:pPr marL="342900" indent="-342900">
              <a:lnSpc>
                <a:spcPct val="140000"/>
              </a:lnSpc>
              <a:spcAft>
                <a:spcPts val="800"/>
              </a:spcAft>
              <a:buSzPct val="100000"/>
              <a:buChar char="•"/>
            </a:pPr>
            <a:r>
              <a:rPr lang="en-US" sz="1600" b="1" dirty="0">
                <a:solidFill>
                  <a:srgbClr val="16A34A"/>
                </a:solidFill>
                <a:latin typeface="Arial" pitchFamily="34" charset="0"/>
                <a:ea typeface="Arial" pitchFamily="34" charset="-122"/>
                <a:cs typeface="Arial" pitchFamily="34" charset="-120"/>
              </a:rPr>
              <a:t>hands</a:t>
            </a:r>
            <a:endParaRPr lang="en-US" sz="1600" dirty="0"/>
          </a:p>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 — tools that change a real database</a:t>
            </a:r>
            <a:endParaRPr lang="en-US" sz="1600" dirty="0"/>
          </a:p>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Turn it loose as an </a:t>
            </a:r>
            <a:endParaRPr lang="en-US" sz="1600" dirty="0"/>
          </a:p>
          <a:p>
            <a:pPr marL="342900" indent="-342900">
              <a:lnSpc>
                <a:spcPct val="140000"/>
              </a:lnSpc>
              <a:spcAft>
                <a:spcPts val="800"/>
              </a:spcAft>
              <a:buSzPct val="100000"/>
              <a:buChar char="•"/>
            </a:pPr>
            <a:r>
              <a:rPr lang="en-US" sz="1600" b="1" dirty="0">
                <a:solidFill>
                  <a:srgbClr val="16A34A"/>
                </a:solidFill>
                <a:latin typeface="Arial" pitchFamily="34" charset="0"/>
                <a:ea typeface="Arial" pitchFamily="34" charset="-122"/>
                <a:cs typeface="Arial" pitchFamily="34" charset="-120"/>
              </a:rPr>
              <a:t>autonomous agent</a:t>
            </a:r>
            <a:endParaRPr lang="en-US" sz="16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Roadmap</a:t>
            </a:r>
            <a:endParaRPr lang="en-US" sz="3300" dirty="0"/>
          </a:p>
        </p:txBody>
      </p:sp>
      <p:sp>
        <p:nvSpPr>
          <p:cNvPr id="4" name="Shape 2"/>
          <p:cNvSpPr/>
          <p:nvPr/>
        </p:nvSpPr>
        <p:spPr>
          <a:xfrm>
            <a:off x="457200" y="914400"/>
            <a:ext cx="1371600" cy="36576"/>
          </a:xfrm>
          <a:prstGeom prst="rect">
            <a:avLst/>
          </a:prstGeom>
          <a:solidFill>
            <a:srgbClr val="22C55E"/>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371600"/>
                <a:gridCol w="2743200"/>
                <a:gridCol w="7159752"/>
              </a:tblGrid>
              <a:tr h="365760">
                <a:tc>
                  <a:txBody>
                    <a:bodyPr/>
                    <a:lstStyle/>
                    <a:p>
                      <a:pPr indent="0" marL="0">
                        <a:buNone/>
                      </a:pPr>
                      <a:r>
                        <a:rPr lang="en-US" sz="1400" b="1" dirty="0">
                          <a:solidFill>
                            <a:srgbClr val="FFFFFF"/>
                          </a:solidFill>
                          <a:latin typeface="Arial" pitchFamily="34" charset="0"/>
                          <a:ea typeface="Arial" pitchFamily="34" charset="-122"/>
                          <a:cs typeface="Arial" pitchFamily="34" charset="-120"/>
                        </a:rPr>
                        <a:t>Time</a:t>
                      </a:r>
                      <a:endParaRPr lang="en-US" sz="14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16A34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Phase</a:t>
                      </a:r>
                      <a:endParaRPr lang="en-US" sz="14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16A34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Concept</a:t>
                      </a:r>
                      <a:endParaRPr lang="en-US" sz="14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16A34A"/>
                    </a:solidFill>
                  </a:tcPr>
                </a:tc>
              </a:tr>
              <a:tr h="365760">
                <a:tc>
                  <a:txBody>
                    <a:bodyPr/>
                    <a:lstStyle/>
                    <a:p>
                      <a:pPr indent="0" marL="0">
                        <a:buNone/>
                      </a:pPr>
                      <a:r>
                        <a:rPr lang="en-US" sz="1200" b="1" dirty="0">
                          <a:solidFill>
                            <a:srgbClr val="16A34A"/>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Setup</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OpenCode app, free models</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6A34A"/>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9FAFB"/>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Module 1</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9FAFB"/>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Context window</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9FAFB"/>
                    </a:solidFill>
                  </a:tcPr>
                </a:tc>
              </a:tr>
              <a:tr h="365760">
                <a:tc>
                  <a:txBody>
                    <a:bodyPr/>
                    <a:lstStyle/>
                    <a:p>
                      <a:pPr indent="0" marL="0">
                        <a:buNone/>
                      </a:pPr>
                      <a:r>
                        <a:rPr lang="en-US" sz="1200" b="1" dirty="0">
                          <a:solidFill>
                            <a:srgbClr val="16A34A"/>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Module 2</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Grounding &amp; hooks</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6A34A"/>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9FAFB"/>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Module 3</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9FAFB"/>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Custom tools</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9FAFB"/>
                    </a:solidFill>
                  </a:tcPr>
                </a:tc>
              </a:tr>
              <a:tr h="365760">
                <a:tc>
                  <a:txBody>
                    <a:bodyPr/>
                    <a:lstStyle/>
                    <a:p>
                      <a:pPr indent="0" marL="0">
                        <a:buNone/>
                      </a:pPr>
                      <a:r>
                        <a:rPr lang="en-US" sz="1200" b="1" dirty="0">
                          <a:solidFill>
                            <a:srgbClr val="16A34A"/>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Module 4</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Autonomous agent</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6A34A"/>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9FAFB"/>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Wrap-up</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9FAFB"/>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The big picture</a:t>
                      </a:r>
                      <a:endParaRPr lang="en-US" sz="1200" dirty="0">
                        <a:latin typeface="Arial" charset="0"/>
                        <a:ea typeface="Arial" charset="0"/>
                        <a:cs typeface="Arial" charset="0"/>
                      </a:endParaRPr>
                    </a:p>
                  </a:txBody>
                  <a:tcPr marL="101600" marR="101600" marT="63500" marB="63500">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F9FAFB"/>
                    </a:solidFill>
                  </a:tcPr>
                </a:tc>
              </a:tr>
            </a:tbl>
          </a:graphicData>
        </a:graphic>
      </p:graphicFrame>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What an LLM actually does</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Shape 3"/>
          <p:cNvSpPr/>
          <p:nvPr/>
        </p:nvSpPr>
        <p:spPr>
          <a:xfrm>
            <a:off x="457200" y="1371600"/>
            <a:ext cx="11274552" cy="1097280"/>
          </a:xfrm>
          <a:prstGeom prst="roundRect">
            <a:avLst>
              <a:gd name="adj" fmla="val 10000"/>
            </a:avLst>
          </a:prstGeom>
          <a:solidFill>
            <a:srgbClr val="F0FDF4"/>
          </a:solidFill>
          <a:ln/>
        </p:spPr>
      </p:sp>
      <p:sp>
        <p:nvSpPr>
          <p:cNvPr id="6" name="Text 4"/>
          <p:cNvSpPr/>
          <p:nvPr/>
        </p:nvSpPr>
        <p:spPr>
          <a:xfrm>
            <a:off x="457200" y="1371600"/>
            <a:ext cx="11274552" cy="1097280"/>
          </a:xfrm>
          <a:prstGeom prst="rect">
            <a:avLst/>
          </a:prstGeom>
          <a:noFill/>
          <a:ln/>
        </p:spPr>
        <p:txBody>
          <a:bodyPr wrap="square" rtlCol="0" anchor="ctr"/>
          <a:lstStyle/>
          <a:p>
            <a:pPr algn="ctr" indent="0" marL="0">
              <a:buNone/>
            </a:pPr>
            <a:r>
              <a:rPr lang="en-US" sz="2400" b="1" dirty="0">
                <a:solidFill>
                  <a:srgbClr val="16A34A"/>
                </a:solidFill>
                <a:latin typeface="Arial" pitchFamily="34" charset="0"/>
                <a:ea typeface="Arial" pitchFamily="34" charset="-122"/>
                <a:cs typeface="Arial" pitchFamily="34" charset="-120"/>
              </a:rPr>
              <a:t>Text in → probability machine → text out.</a:t>
            </a:r>
            <a:endParaRPr lang="en-US" sz="2400" dirty="0"/>
          </a:p>
        </p:txBody>
      </p:sp>
      <p:sp>
        <p:nvSpPr>
          <p:cNvPr id="7" name="Text 5"/>
          <p:cNvSpPr/>
          <p:nvPr/>
        </p:nvSpPr>
        <p:spPr>
          <a:xfrm>
            <a:off x="457200" y="2834640"/>
            <a:ext cx="11274552" cy="3108960"/>
          </a:xfrm>
          <a:prstGeom prst="rect">
            <a:avLst/>
          </a:prstGeom>
          <a:noFill/>
          <a:ln/>
        </p:spPr>
        <p:txBody>
          <a:bodyPr wrap="square" rtlCol="0" anchor="t"/>
          <a:lstStyle/>
          <a:p>
            <a:pPr marL="342900" indent="-342900">
              <a:lnSpc>
                <a:spcPct val="130000"/>
              </a:lnSpc>
              <a:spcAft>
                <a:spcPts val="800"/>
              </a:spcAft>
              <a:buSzPct val="100000"/>
              <a:buChar char="•"/>
            </a:pPr>
            <a:r>
              <a:rPr lang="en-US" sz="1400" dirty="0">
                <a:solidFill>
                  <a:srgbClr val="1F2937"/>
                </a:solidFill>
                <a:latin typeface="Arial" pitchFamily="34" charset="0"/>
                <a:ea typeface="Arial" pitchFamily="34" charset="-122"/>
                <a:cs typeface="Arial" pitchFamily="34" charset="-120"/>
              </a:rPr>
              <a:t>It does NOT "know" things — it predicts plausible text</a:t>
            </a:r>
            <a:endParaRPr lang="en-US" sz="1400" dirty="0"/>
          </a:p>
          <a:p>
            <a:pPr marL="342900" indent="-342900">
              <a:lnSpc>
                <a:spcPct val="130000"/>
              </a:lnSpc>
              <a:spcAft>
                <a:spcPts val="800"/>
              </a:spcAft>
              <a:buSzPct val="100000"/>
              <a:buChar char="•"/>
            </a:pPr>
            <a:r>
              <a:rPr lang="en-US" sz="1400" dirty="0">
                <a:solidFill>
                  <a:srgbClr val="1F2937"/>
                </a:solidFill>
                <a:latin typeface="Arial" pitchFamily="34" charset="0"/>
                <a:ea typeface="Arial" pitchFamily="34" charset="-122"/>
                <a:cs typeface="Arial" pitchFamily="34" charset="-120"/>
              </a:rPr>
              <a:t>It does NOT remember you — no memory of its own</a:t>
            </a:r>
            <a:endParaRPr lang="en-US" sz="1400" dirty="0"/>
          </a:p>
          <a:p>
            <a:pPr marL="342900" indent="-342900">
              <a:lnSpc>
                <a:spcPct val="130000"/>
              </a:lnSpc>
              <a:spcAft>
                <a:spcPts val="800"/>
              </a:spcAft>
              <a:buSzPct val="100000"/>
              <a:buChar char="•"/>
            </a:pPr>
            <a:r>
              <a:rPr lang="en-US" sz="1400" dirty="0">
                <a:solidFill>
                  <a:srgbClr val="1F2937"/>
                </a:solidFill>
                <a:latin typeface="Arial" pitchFamily="34" charset="0"/>
                <a:ea typeface="Arial" pitchFamily="34" charset="-122"/>
                <a:cs typeface="Arial" pitchFamily="34" charset="-120"/>
              </a:rPr>
              <a:t>It cannot DO anything — every action is code running for it</a:t>
            </a:r>
            <a:endParaRPr lang="en-US" sz="14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Tokens</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371600"/>
            <a:ext cx="11274552" cy="2377440"/>
          </a:xfrm>
          <a:prstGeom prst="rect">
            <a:avLst/>
          </a:prstGeom>
          <a:noFill/>
          <a:ln/>
        </p:spPr>
        <p:txBody>
          <a:bodyPr wrap="square" rtlCol="0" anchor="t"/>
          <a:lstStyle/>
          <a:p>
            <a:pPr indent="0" marL="0">
              <a:lnSpc>
                <a:spcPct val="130000"/>
              </a:lnSpc>
              <a:spcAft>
                <a:spcPts val="1000"/>
              </a:spcAft>
              <a:buNone/>
            </a:pPr>
            <a:r>
              <a:rPr lang="en-US" sz="1600" dirty="0">
                <a:solidFill>
                  <a:srgbClr val="1F2937"/>
                </a:solidFill>
                <a:latin typeface="Arial" pitchFamily="34" charset="0"/>
                <a:ea typeface="Arial" pitchFamily="34" charset="-122"/>
                <a:cs typeface="Arial" pitchFamily="34" charset="-120"/>
              </a:rPr>
              <a:t>Models don't read words — they read </a:t>
            </a:r>
            <a:pPr indent="0" marL="0">
              <a:lnSpc>
                <a:spcPct val="130000"/>
              </a:lnSpc>
              <a:spcAft>
                <a:spcPts val="1000"/>
              </a:spcAft>
              <a:buNone/>
            </a:pPr>
            <a:r>
              <a:rPr lang="en-US" sz="1600" b="1" dirty="0">
                <a:solidFill>
                  <a:srgbClr val="16A34A"/>
                </a:solidFill>
                <a:latin typeface="Arial" pitchFamily="34" charset="0"/>
                <a:ea typeface="Arial" pitchFamily="34" charset="-122"/>
                <a:cs typeface="Arial" pitchFamily="34" charset="-120"/>
              </a:rPr>
              <a:t>tokens</a:t>
            </a:r>
            <a:endParaRPr lang="en-US" sz="1600" dirty="0"/>
          </a:p>
          <a:p>
            <a:pPr marL="342900" indent="-342900">
              <a:lnSpc>
                <a:spcPct val="13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1 token ≈ 4 characters ≈ ¾ of a word</a:t>
            </a:r>
            <a:endParaRPr lang="en-US" sz="1600" dirty="0"/>
          </a:p>
          <a:p>
            <a:pPr marL="342900" indent="-342900">
              <a:lnSpc>
                <a:spcPct val="13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Tokens are the "currency" of every model call</a:t>
            </a:r>
            <a:endParaRPr lang="en-US" sz="1600" dirty="0"/>
          </a:p>
          <a:p>
            <a:pPr marL="342900" indent="-342900">
              <a:lnSpc>
                <a:spcPct val="13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The context window has a token budget — watch the counter in the app</a:t>
            </a:r>
            <a:endParaRPr lang="en-US" sz="1600" dirty="0"/>
          </a:p>
        </p:txBody>
      </p:sp>
      <p:sp>
        <p:nvSpPr>
          <p:cNvPr id="6" name="Shape 4"/>
          <p:cNvSpPr/>
          <p:nvPr/>
        </p:nvSpPr>
        <p:spPr>
          <a:xfrm>
            <a:off x="457200" y="4023360"/>
            <a:ext cx="11274552" cy="914400"/>
          </a:xfrm>
          <a:prstGeom prst="roundRect">
            <a:avLst>
              <a:gd name="adj" fmla="val 10000"/>
            </a:avLst>
          </a:prstGeom>
          <a:solidFill>
            <a:srgbClr val="F9FAFB"/>
          </a:solidFill>
          <a:ln w="6350">
            <a:solidFill>
              <a:srgbClr val="9CA3AF"/>
            </a:solidFill>
            <a:prstDash val="solid"/>
          </a:ln>
        </p:spPr>
      </p:sp>
      <p:sp>
        <p:nvSpPr>
          <p:cNvPr id="7" name="Text 5"/>
          <p:cNvSpPr/>
          <p:nvPr/>
        </p:nvSpPr>
        <p:spPr>
          <a:xfrm>
            <a:off x="685800" y="4114800"/>
            <a:ext cx="10817352" cy="731520"/>
          </a:xfrm>
          <a:prstGeom prst="rect">
            <a:avLst/>
          </a:prstGeom>
          <a:noFill/>
          <a:ln/>
        </p:spPr>
        <p:txBody>
          <a:bodyPr wrap="square" rtlCol="0" anchor="ctr"/>
          <a:lstStyle/>
          <a:p>
            <a:pPr algn="l" indent="0" marL="0">
              <a:lnSpc>
                <a:spcPct val="115000"/>
              </a:lnSpc>
              <a:buNone/>
            </a:pPr>
            <a:r>
              <a:rPr lang="en-US" sz="1400" dirty="0">
                <a:solidFill>
                  <a:srgbClr val="1F2937"/>
                </a:solidFill>
                <a:latin typeface="Courier New" pitchFamily="34" charset="0"/>
                <a:ea typeface="Courier New" pitchFamily="34" charset="-122"/>
                <a:cs typeface="Courier New" pitchFamily="34" charset="-120"/>
              </a:rPr>
              <a:t>"Battery not charging"  →  ~5 tokens</a:t>
            </a:r>
            <a:endParaRPr lang="en-US" sz="14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Context window &amp; statelessness</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554480"/>
            <a:ext cx="11274552" cy="4206240"/>
          </a:xfrm>
          <a:prstGeom prst="rect">
            <a:avLst/>
          </a:prstGeom>
          <a:noFill/>
          <a:ln/>
        </p:spPr>
        <p:txBody>
          <a:bodyPr wrap="square" rtlCol="0" anchor="t"/>
          <a:lstStyle/>
          <a:p>
            <a:pPr indent="0" marL="0">
              <a:lnSpc>
                <a:spcPct val="140000"/>
              </a:lnSpc>
              <a:spcAft>
                <a:spcPts val="1200"/>
              </a:spcAft>
              <a:buNone/>
            </a:pPr>
            <a:r>
              <a:rPr lang="en-US" sz="1600" dirty="0">
                <a:solidFill>
                  <a:srgbClr val="1F2937"/>
                </a:solidFill>
                <a:latin typeface="Arial" pitchFamily="34" charset="0"/>
                <a:ea typeface="Arial" pitchFamily="34" charset="-122"/>
                <a:cs typeface="Arial" pitchFamily="34" charset="-120"/>
              </a:rPr>
              <a:t>The context window = </a:t>
            </a:r>
            <a:pPr indent="0" marL="0">
              <a:lnSpc>
                <a:spcPct val="140000"/>
              </a:lnSpc>
              <a:spcAft>
                <a:spcPts val="1200"/>
              </a:spcAft>
              <a:buNone/>
            </a:pPr>
            <a:r>
              <a:rPr lang="en-US" sz="1600" b="1" dirty="0">
                <a:solidFill>
                  <a:srgbClr val="16A34A"/>
                </a:solidFill>
                <a:latin typeface="Arial" pitchFamily="34" charset="0"/>
                <a:ea typeface="Arial" pitchFamily="34" charset="-122"/>
                <a:cs typeface="Arial" pitchFamily="34" charset="-120"/>
              </a:rPr>
              <a:t>the model's entire world</a:t>
            </a:r>
            <a:endParaRPr lang="en-US" sz="1600" dirty="0"/>
          </a:p>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The ONLY thing the model sees is the text in the current session</a:t>
            </a:r>
            <a:endParaRPr lang="en-US" sz="1600" dirty="0"/>
          </a:p>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Every call starts from ZERO — no memory between calls</a:t>
            </a:r>
            <a:endParaRPr lang="en-US" sz="1600" dirty="0"/>
          </a:p>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"Memory" = the app resending the conversation every time</a:t>
            </a:r>
            <a:endParaRPr lang="en-US" sz="16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Meet OpenCode</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Shape 3"/>
          <p:cNvSpPr/>
          <p:nvPr/>
        </p:nvSpPr>
        <p:spPr>
          <a:xfrm>
            <a:off x="457200" y="1371600"/>
            <a:ext cx="2612898" cy="3840480"/>
          </a:xfrm>
          <a:prstGeom prst="roundRect">
            <a:avLst>
              <a:gd name="adj" fmla="val 5249"/>
            </a:avLst>
          </a:prstGeom>
          <a:solidFill>
            <a:srgbClr val="22C55E"/>
          </a:solidFill>
          <a:ln/>
        </p:spPr>
      </p:sp>
      <p:sp>
        <p:nvSpPr>
          <p:cNvPr id="6" name="Text 4"/>
          <p:cNvSpPr/>
          <p:nvPr/>
        </p:nvSpPr>
        <p:spPr>
          <a:xfrm>
            <a:off x="457200" y="1554480"/>
            <a:ext cx="2612898" cy="731520"/>
          </a:xfrm>
          <a:prstGeom prst="rect">
            <a:avLst/>
          </a:prstGeom>
          <a:noFill/>
          <a:ln/>
        </p:spPr>
        <p:txBody>
          <a:bodyPr wrap="square" rtlCol="0" anchor="ctr"/>
          <a:lstStyle/>
          <a:p>
            <a:pPr algn="ctr" indent="0" marL="0">
              <a:buNone/>
            </a:pPr>
            <a:r>
              <a:rPr lang="en-US" sz="3600" dirty="0">
                <a:solidFill>
                  <a:srgbClr val="FFFFFF"/>
                </a:solidFill>
                <a:latin typeface="Arial Black" pitchFamily="34" charset="0"/>
                <a:ea typeface="Arial Black" pitchFamily="34" charset="-122"/>
                <a:cs typeface="Arial Black" pitchFamily="34" charset="-120"/>
              </a:rPr>
              <a:t>01</a:t>
            </a:r>
            <a:endParaRPr lang="en-US" sz="3600" dirty="0"/>
          </a:p>
        </p:txBody>
      </p:sp>
      <p:sp>
        <p:nvSpPr>
          <p:cNvPr id="7" name="Text 5"/>
          <p:cNvSpPr/>
          <p:nvPr/>
        </p:nvSpPr>
        <p:spPr>
          <a:xfrm>
            <a:off x="640080" y="2377440"/>
            <a:ext cx="2247138" cy="5486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Session</a:t>
            </a:r>
            <a:endParaRPr lang="en-US" sz="1600" dirty="0"/>
          </a:p>
        </p:txBody>
      </p:sp>
      <p:sp>
        <p:nvSpPr>
          <p:cNvPr id="8" name="Text 6"/>
          <p:cNvSpPr/>
          <p:nvPr/>
        </p:nvSpPr>
        <p:spPr>
          <a:xfrm>
            <a:off x="640080" y="3017520"/>
            <a:ext cx="2247138" cy="1828800"/>
          </a:xfrm>
          <a:prstGeom prst="rect">
            <a:avLst/>
          </a:prstGeom>
          <a:noFill/>
          <a:ln/>
        </p:spPr>
        <p:txBody>
          <a:bodyPr wrap="square" rtlCol="0" anchor="t"/>
          <a:lstStyle/>
          <a:p>
            <a:pPr algn="ctr" indent="0" marL="0">
              <a:buNone/>
            </a:pPr>
            <a:r>
              <a:rPr lang="en-US" sz="1200" dirty="0">
                <a:solidFill>
                  <a:srgbClr val="FFFFFF"/>
                </a:solidFill>
                <a:latin typeface="Arial" pitchFamily="34" charset="0"/>
                <a:ea typeface="Arial" pitchFamily="34" charset="-122"/>
                <a:cs typeface="Arial" pitchFamily="34" charset="-120"/>
              </a:rPr>
              <a:t>The context window — the model's "memory"</a:t>
            </a:r>
            <a:endParaRPr lang="en-US" sz="1200" dirty="0"/>
          </a:p>
        </p:txBody>
      </p:sp>
      <p:sp>
        <p:nvSpPr>
          <p:cNvPr id="9" name="Shape 7"/>
          <p:cNvSpPr/>
          <p:nvPr/>
        </p:nvSpPr>
        <p:spPr>
          <a:xfrm>
            <a:off x="3344418" y="1371600"/>
            <a:ext cx="2612898" cy="3840480"/>
          </a:xfrm>
          <a:prstGeom prst="roundRect">
            <a:avLst>
              <a:gd name="adj" fmla="val 5249"/>
            </a:avLst>
          </a:prstGeom>
          <a:solidFill>
            <a:srgbClr val="FFFFFF"/>
          </a:solidFill>
          <a:ln w="19050">
            <a:solidFill>
              <a:srgbClr val="22C55E"/>
            </a:solidFill>
            <a:prstDash val="solid"/>
          </a:ln>
        </p:spPr>
      </p:sp>
      <p:sp>
        <p:nvSpPr>
          <p:cNvPr id="10" name="Text 8"/>
          <p:cNvSpPr/>
          <p:nvPr/>
        </p:nvSpPr>
        <p:spPr>
          <a:xfrm>
            <a:off x="3344418" y="1554480"/>
            <a:ext cx="2612898" cy="731520"/>
          </a:xfrm>
          <a:prstGeom prst="rect">
            <a:avLst/>
          </a:prstGeom>
          <a:noFill/>
          <a:ln/>
        </p:spPr>
        <p:txBody>
          <a:bodyPr wrap="square" rtlCol="0" anchor="ctr"/>
          <a:lstStyle/>
          <a:p>
            <a:pPr algn="ctr" indent="0" marL="0">
              <a:buNone/>
            </a:pPr>
            <a:r>
              <a:rPr lang="en-US" sz="3600" dirty="0">
                <a:solidFill>
                  <a:srgbClr val="22C55E"/>
                </a:solidFill>
                <a:latin typeface="Arial Black" pitchFamily="34" charset="0"/>
                <a:ea typeface="Arial Black" pitchFamily="34" charset="-122"/>
                <a:cs typeface="Arial Black" pitchFamily="34" charset="-120"/>
              </a:rPr>
              <a:t>02</a:t>
            </a:r>
            <a:endParaRPr lang="en-US" sz="3600" dirty="0"/>
          </a:p>
        </p:txBody>
      </p:sp>
      <p:sp>
        <p:nvSpPr>
          <p:cNvPr id="11" name="Text 9"/>
          <p:cNvSpPr/>
          <p:nvPr/>
        </p:nvSpPr>
        <p:spPr>
          <a:xfrm>
            <a:off x="3527298" y="2377440"/>
            <a:ext cx="2247138" cy="548640"/>
          </a:xfrm>
          <a:prstGeom prst="rect">
            <a:avLst/>
          </a:prstGeom>
          <a:noFill/>
          <a:ln/>
        </p:spPr>
        <p:txBody>
          <a:bodyPr wrap="square" rtlCol="0" anchor="ctr"/>
          <a:lstStyle/>
          <a:p>
            <a:pPr algn="ctr" indent="0" marL="0">
              <a:buNone/>
            </a:pPr>
            <a:r>
              <a:rPr lang="en-US" sz="1600" b="1" dirty="0">
                <a:solidFill>
                  <a:srgbClr val="111827"/>
                </a:solidFill>
                <a:latin typeface="Arial" pitchFamily="34" charset="0"/>
                <a:ea typeface="Arial" pitchFamily="34" charset="-122"/>
                <a:cs typeface="Arial" pitchFamily="34" charset="-120"/>
              </a:rPr>
              <a:t>AGENTS.md</a:t>
            </a:r>
            <a:endParaRPr lang="en-US" sz="1600" dirty="0"/>
          </a:p>
        </p:txBody>
      </p:sp>
      <p:sp>
        <p:nvSpPr>
          <p:cNvPr id="12" name="Text 10"/>
          <p:cNvSpPr/>
          <p:nvPr/>
        </p:nvSpPr>
        <p:spPr>
          <a:xfrm>
            <a:off x="3527298" y="3017520"/>
            <a:ext cx="2247138" cy="1828800"/>
          </a:xfrm>
          <a:prstGeom prst="rect">
            <a:avLst/>
          </a:prstGeom>
          <a:noFill/>
          <a:ln/>
        </p:spPr>
        <p:txBody>
          <a:bodyPr wrap="square" rtlCol="0" anchor="t"/>
          <a:lstStyle/>
          <a:p>
            <a:pPr algn="ctr" indent="0" marL="0">
              <a:buNone/>
            </a:pPr>
            <a:r>
              <a:rPr lang="en-US" sz="1200" dirty="0">
                <a:solidFill>
                  <a:srgbClr val="4B5563"/>
                </a:solidFill>
                <a:latin typeface="Arial" pitchFamily="34" charset="0"/>
                <a:ea typeface="Arial" pitchFamily="34" charset="-122"/>
                <a:cs typeface="Arial" pitchFamily="34" charset="-120"/>
              </a:rPr>
              <a:t>Persistent project rules, read every session</a:t>
            </a:r>
            <a:endParaRPr lang="en-US" sz="1200" dirty="0"/>
          </a:p>
        </p:txBody>
      </p:sp>
      <p:sp>
        <p:nvSpPr>
          <p:cNvPr id="13" name="Shape 11"/>
          <p:cNvSpPr/>
          <p:nvPr/>
        </p:nvSpPr>
        <p:spPr>
          <a:xfrm>
            <a:off x="6231636" y="1371600"/>
            <a:ext cx="2612898" cy="3840480"/>
          </a:xfrm>
          <a:prstGeom prst="roundRect">
            <a:avLst>
              <a:gd name="adj" fmla="val 5249"/>
            </a:avLst>
          </a:prstGeom>
          <a:solidFill>
            <a:srgbClr val="FFFFFF"/>
          </a:solidFill>
          <a:ln w="19050">
            <a:solidFill>
              <a:srgbClr val="22C55E"/>
            </a:solidFill>
            <a:prstDash val="solid"/>
          </a:ln>
        </p:spPr>
      </p:sp>
      <p:sp>
        <p:nvSpPr>
          <p:cNvPr id="14" name="Text 12"/>
          <p:cNvSpPr/>
          <p:nvPr/>
        </p:nvSpPr>
        <p:spPr>
          <a:xfrm>
            <a:off x="6231636" y="1554480"/>
            <a:ext cx="2612898" cy="731520"/>
          </a:xfrm>
          <a:prstGeom prst="rect">
            <a:avLst/>
          </a:prstGeom>
          <a:noFill/>
          <a:ln/>
        </p:spPr>
        <p:txBody>
          <a:bodyPr wrap="square" rtlCol="0" anchor="ctr"/>
          <a:lstStyle/>
          <a:p>
            <a:pPr algn="ctr" indent="0" marL="0">
              <a:buNone/>
            </a:pPr>
            <a:r>
              <a:rPr lang="en-US" sz="3600" dirty="0">
                <a:solidFill>
                  <a:srgbClr val="22C55E"/>
                </a:solidFill>
                <a:latin typeface="Arial Black" pitchFamily="34" charset="0"/>
                <a:ea typeface="Arial Black" pitchFamily="34" charset="-122"/>
                <a:cs typeface="Arial Black" pitchFamily="34" charset="-120"/>
              </a:rPr>
              <a:t>03</a:t>
            </a:r>
            <a:endParaRPr lang="en-US" sz="3600" dirty="0"/>
          </a:p>
        </p:txBody>
      </p:sp>
      <p:sp>
        <p:nvSpPr>
          <p:cNvPr id="15" name="Text 13"/>
          <p:cNvSpPr/>
          <p:nvPr/>
        </p:nvSpPr>
        <p:spPr>
          <a:xfrm>
            <a:off x="6414516" y="2377440"/>
            <a:ext cx="2247138" cy="548640"/>
          </a:xfrm>
          <a:prstGeom prst="rect">
            <a:avLst/>
          </a:prstGeom>
          <a:noFill/>
          <a:ln/>
        </p:spPr>
        <p:txBody>
          <a:bodyPr wrap="square" rtlCol="0" anchor="ctr"/>
          <a:lstStyle/>
          <a:p>
            <a:pPr algn="ctr" indent="0" marL="0">
              <a:buNone/>
            </a:pPr>
            <a:r>
              <a:rPr lang="en-US" sz="1600" b="1" dirty="0">
                <a:solidFill>
                  <a:srgbClr val="111827"/>
                </a:solidFill>
                <a:latin typeface="Arial" pitchFamily="34" charset="0"/>
                <a:ea typeface="Arial" pitchFamily="34" charset="-122"/>
                <a:cs typeface="Arial" pitchFamily="34" charset="-120"/>
              </a:rPr>
              <a:t>Custom tools</a:t>
            </a:r>
            <a:endParaRPr lang="en-US" sz="1600" dirty="0"/>
          </a:p>
        </p:txBody>
      </p:sp>
      <p:sp>
        <p:nvSpPr>
          <p:cNvPr id="16" name="Text 14"/>
          <p:cNvSpPr/>
          <p:nvPr/>
        </p:nvSpPr>
        <p:spPr>
          <a:xfrm>
            <a:off x="6414516" y="3017520"/>
            <a:ext cx="2247138" cy="1828800"/>
          </a:xfrm>
          <a:prstGeom prst="rect">
            <a:avLst/>
          </a:prstGeom>
          <a:noFill/>
          <a:ln/>
        </p:spPr>
        <p:txBody>
          <a:bodyPr wrap="square" rtlCol="0" anchor="t"/>
          <a:lstStyle/>
          <a:p>
            <a:pPr algn="ctr" indent="0" marL="0">
              <a:buNone/>
            </a:pPr>
            <a:r>
              <a:rPr lang="en-US" sz="1200" dirty="0">
                <a:solidFill>
                  <a:srgbClr val="4B5563"/>
                </a:solidFill>
                <a:latin typeface="Arial" pitchFamily="34" charset="0"/>
                <a:ea typeface="Arial" pitchFamily="34" charset="-122"/>
                <a:cs typeface="Arial" pitchFamily="34" charset="-120"/>
              </a:rPr>
              <a:t>Function calling: real code the model can trigger</a:t>
            </a:r>
            <a:endParaRPr lang="en-US" sz="1200" dirty="0"/>
          </a:p>
        </p:txBody>
      </p:sp>
      <p:sp>
        <p:nvSpPr>
          <p:cNvPr id="17" name="Shape 15"/>
          <p:cNvSpPr/>
          <p:nvPr/>
        </p:nvSpPr>
        <p:spPr>
          <a:xfrm>
            <a:off x="9118854" y="1371600"/>
            <a:ext cx="2612898" cy="3840480"/>
          </a:xfrm>
          <a:prstGeom prst="roundRect">
            <a:avLst>
              <a:gd name="adj" fmla="val 5249"/>
            </a:avLst>
          </a:prstGeom>
          <a:solidFill>
            <a:srgbClr val="FFFFFF"/>
          </a:solidFill>
          <a:ln w="19050">
            <a:solidFill>
              <a:srgbClr val="22C55E"/>
            </a:solidFill>
            <a:prstDash val="solid"/>
          </a:ln>
        </p:spPr>
      </p:sp>
      <p:sp>
        <p:nvSpPr>
          <p:cNvPr id="18" name="Text 16"/>
          <p:cNvSpPr/>
          <p:nvPr/>
        </p:nvSpPr>
        <p:spPr>
          <a:xfrm>
            <a:off x="9118854" y="1554480"/>
            <a:ext cx="2612898" cy="731520"/>
          </a:xfrm>
          <a:prstGeom prst="rect">
            <a:avLst/>
          </a:prstGeom>
          <a:noFill/>
          <a:ln/>
        </p:spPr>
        <p:txBody>
          <a:bodyPr wrap="square" rtlCol="0" anchor="ctr"/>
          <a:lstStyle/>
          <a:p>
            <a:pPr algn="ctr" indent="0" marL="0">
              <a:buNone/>
            </a:pPr>
            <a:r>
              <a:rPr lang="en-US" sz="3600" dirty="0">
                <a:solidFill>
                  <a:srgbClr val="22C55E"/>
                </a:solidFill>
                <a:latin typeface="Arial Black" pitchFamily="34" charset="0"/>
                <a:ea typeface="Arial Black" pitchFamily="34" charset="-122"/>
                <a:cs typeface="Arial Black" pitchFamily="34" charset="-120"/>
              </a:rPr>
              <a:t>04</a:t>
            </a:r>
            <a:endParaRPr lang="en-US" sz="3600" dirty="0"/>
          </a:p>
        </p:txBody>
      </p:sp>
      <p:sp>
        <p:nvSpPr>
          <p:cNvPr id="19" name="Text 17"/>
          <p:cNvSpPr/>
          <p:nvPr/>
        </p:nvSpPr>
        <p:spPr>
          <a:xfrm>
            <a:off x="9301734" y="2377440"/>
            <a:ext cx="2247138" cy="548640"/>
          </a:xfrm>
          <a:prstGeom prst="rect">
            <a:avLst/>
          </a:prstGeom>
          <a:noFill/>
          <a:ln/>
        </p:spPr>
        <p:txBody>
          <a:bodyPr wrap="square" rtlCol="0" anchor="ctr"/>
          <a:lstStyle/>
          <a:p>
            <a:pPr algn="ctr" indent="0" marL="0">
              <a:buNone/>
            </a:pPr>
            <a:r>
              <a:rPr lang="en-US" sz="1600" b="1" dirty="0">
                <a:solidFill>
                  <a:srgbClr val="111827"/>
                </a:solidFill>
                <a:latin typeface="Arial" pitchFamily="34" charset="0"/>
                <a:ea typeface="Arial" pitchFamily="34" charset="-122"/>
                <a:cs typeface="Arial" pitchFamily="34" charset="-120"/>
              </a:rPr>
              <a:t>Agents</a:t>
            </a:r>
            <a:endParaRPr lang="en-US" sz="1600" dirty="0"/>
          </a:p>
        </p:txBody>
      </p:sp>
      <p:sp>
        <p:nvSpPr>
          <p:cNvPr id="20" name="Text 18"/>
          <p:cNvSpPr/>
          <p:nvPr/>
        </p:nvSpPr>
        <p:spPr>
          <a:xfrm>
            <a:off x="9301734" y="3017520"/>
            <a:ext cx="2247138" cy="1828800"/>
          </a:xfrm>
          <a:prstGeom prst="rect">
            <a:avLst/>
          </a:prstGeom>
          <a:noFill/>
          <a:ln/>
        </p:spPr>
        <p:txBody>
          <a:bodyPr wrap="square" rtlCol="0" anchor="t"/>
          <a:lstStyle/>
          <a:p>
            <a:pPr algn="ctr" indent="0" marL="0">
              <a:buNone/>
            </a:pPr>
            <a:r>
              <a:rPr lang="en-US" sz="1200" dirty="0">
                <a:solidFill>
                  <a:srgbClr val="4B5563"/>
                </a:solidFill>
                <a:latin typeface="Arial" pitchFamily="34" charset="0"/>
                <a:ea typeface="Arial" pitchFamily="34" charset="-122"/>
                <a:cs typeface="Arial" pitchFamily="34" charset="-120"/>
              </a:rPr>
              <a:t>Autonomous loops with a step budget</a:t>
            </a:r>
            <a:endParaRPr lang="en-US" sz="1200" dirty="0"/>
          </a:p>
        </p:txBody>
      </p:sp>
      <p:sp>
        <p:nvSpPr>
          <p:cNvPr id="21" name="Text 19"/>
          <p:cNvSpPr/>
          <p:nvPr/>
        </p:nvSpPr>
        <p:spPr>
          <a:xfrm>
            <a:off x="457200" y="5486400"/>
            <a:ext cx="11274552" cy="457200"/>
          </a:xfrm>
          <a:prstGeom prst="rect">
            <a:avLst/>
          </a:prstGeom>
          <a:noFill/>
          <a:ln/>
        </p:spPr>
        <p:txBody>
          <a:bodyPr wrap="square" rtlCol="0" anchor="ctr"/>
          <a:lstStyle/>
          <a:p>
            <a:pPr algn="ctr" indent="0" marL="0">
              <a:buNone/>
            </a:pPr>
            <a:r>
              <a:rPr lang="en-US" sz="1400" dirty="0">
                <a:solidFill>
                  <a:srgbClr val="1F2937"/>
                </a:solidFill>
                <a:latin typeface="Arial" pitchFamily="34" charset="0"/>
                <a:ea typeface="Arial" pitchFamily="34" charset="-122"/>
                <a:cs typeface="Arial" pitchFamily="34" charset="-120"/>
              </a:rPr>
              <a:t>The app is the middleware between you and the model. </a:t>
            </a:r>
            <a:pPr algn="ctr" indent="0" marL="0">
              <a:buNone/>
            </a:pPr>
            <a:r>
              <a:rPr lang="en-US" sz="1400" b="1" dirty="0">
                <a:solidFill>
                  <a:srgbClr val="16A34A"/>
                </a:solidFill>
                <a:latin typeface="Arial" pitchFamily="34" charset="0"/>
                <a:ea typeface="Arial" pitchFamily="34" charset="-122"/>
                <a:cs typeface="Arial" pitchFamily="34" charset="-120"/>
              </a:rPr>
              <a:t>You don't just chat with it — you GOVERN it.</a:t>
            </a:r>
            <a:endParaRPr lang="en-US" sz="14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Install OpenCode</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737360"/>
            <a:ext cx="11274552" cy="3291840"/>
          </a:xfrm>
          <a:prstGeom prst="rect">
            <a:avLst/>
          </a:prstGeom>
          <a:noFill/>
          <a:ln/>
        </p:spPr>
        <p:txBody>
          <a:bodyPr wrap="square" rtlCol="0" anchor="t"/>
          <a:lstStyle/>
          <a:p>
            <a:pPr indent="0" marL="0">
              <a:lnSpc>
                <a:spcPct val="130000"/>
              </a:lnSpc>
              <a:spcAft>
                <a:spcPts val="1400"/>
              </a:spcAft>
              <a:buNone/>
            </a:pPr>
            <a:r>
              <a:rPr lang="en-US" sz="1800" dirty="0">
                <a:solidFill>
                  <a:srgbClr val="1F2937"/>
                </a:solidFill>
                <a:latin typeface="Arial" pitchFamily="34" charset="0"/>
                <a:ea typeface="Arial" pitchFamily="34" charset="-122"/>
                <a:cs typeface="Arial" pitchFamily="34" charset="-120"/>
              </a:rPr>
              <a:t>1.  Go to </a:t>
            </a:r>
            <a:pPr indent="0" marL="0">
              <a:lnSpc>
                <a:spcPct val="130000"/>
              </a:lnSpc>
              <a:spcAft>
                <a:spcPts val="1400"/>
              </a:spcAft>
              <a:buNone/>
            </a:pPr>
            <a:r>
              <a:rPr lang="en-US" sz="1800" b="1" dirty="0">
                <a:solidFill>
                  <a:srgbClr val="16A34A"/>
                </a:solidFill>
                <a:latin typeface="Arial" pitchFamily="34" charset="0"/>
                <a:ea typeface="Arial" pitchFamily="34" charset="-122"/>
                <a:cs typeface="Arial" pitchFamily="34" charset="-120"/>
              </a:rPr>
              <a:t>opencode.ai/download</a:t>
            </a:r>
            <a:pPr indent="0" marL="0">
              <a:lnSpc>
                <a:spcPct val="130000"/>
              </a:lnSpc>
              <a:spcAft>
                <a:spcPts val="1400"/>
              </a:spcAft>
              <a:buNone/>
            </a:pPr>
            <a:r>
              <a:rPr lang="en-US" sz="1800" dirty="0">
                <a:solidFill>
                  <a:srgbClr val="1F2937"/>
                </a:solidFill>
                <a:latin typeface="Arial" pitchFamily="34" charset="0"/>
                <a:ea typeface="Arial" pitchFamily="34" charset="-122"/>
                <a:cs typeface="Arial" pitchFamily="34" charset="-120"/>
              </a:rPr>
              <a:t> → </a:t>
            </a:r>
            <a:pPr indent="0" marL="0">
              <a:lnSpc>
                <a:spcPct val="130000"/>
              </a:lnSpc>
              <a:spcAft>
                <a:spcPts val="1400"/>
              </a:spcAft>
              <a:buNone/>
            </a:pPr>
            <a:r>
              <a:rPr lang="en-US" sz="1800" b="1" dirty="0">
                <a:solidFill>
                  <a:srgbClr val="111827"/>
                </a:solidFill>
                <a:latin typeface="Arial" pitchFamily="34" charset="0"/>
                <a:ea typeface="Arial" pitchFamily="34" charset="-122"/>
                <a:cs typeface="Arial" pitchFamily="34" charset="-120"/>
              </a:rPr>
              <a:t>OpenCode Desktop — Windows (x64)</a:t>
            </a:r>
            <a:endParaRPr lang="en-US" sz="1800" dirty="0"/>
          </a:p>
          <a:p>
            <a:pPr indent="0" marL="0">
              <a:lnSpc>
                <a:spcPct val="130000"/>
              </a:lnSpc>
              <a:spcAft>
                <a:spcPts val="2400"/>
              </a:spcAft>
              <a:buNone/>
            </a:pPr>
            <a:r>
              <a:rPr lang="en-US" sz="1800" dirty="0">
                <a:solidFill>
                  <a:srgbClr val="1F2937"/>
                </a:solidFill>
                <a:latin typeface="Arial" pitchFamily="34" charset="0"/>
                <a:ea typeface="Arial" pitchFamily="34" charset="-122"/>
                <a:cs typeface="Arial" pitchFamily="34" charset="-120"/>
              </a:rPr>
              <a:t>2.  Install &amp; launch</a:t>
            </a:r>
            <a:endParaRPr lang="en-US" sz="1800" dirty="0"/>
          </a:p>
          <a:p>
            <a:pPr indent="0" marL="0">
              <a:lnSpc>
                <a:spcPct val="130000"/>
              </a:lnSpc>
              <a:spcAft>
                <a:spcPts val="1200"/>
              </a:spcAft>
              <a:buNone/>
            </a:pPr>
            <a:r>
              <a:rPr lang="en-US" sz="1800" b="1" dirty="0">
                <a:solidFill>
                  <a:srgbClr val="16A34A"/>
                </a:solidFill>
                <a:latin typeface="Arial" pitchFamily="34" charset="0"/>
                <a:ea typeface="Arial" pitchFamily="34" charset="-122"/>
                <a:cs typeface="Arial" pitchFamily="34" charset="-120"/>
              </a:rPr>
              <a:t>Free models included:  NO account · NO API key · NO billing</a:t>
            </a:r>
            <a:endParaRPr lang="en-US" sz="1800" dirty="0"/>
          </a:p>
          <a:p>
            <a:pPr indent="0" marL="0">
              <a:lnSpc>
                <a:spcPct val="130000"/>
              </a:lnSpc>
              <a:buNone/>
            </a:pPr>
            <a:r>
              <a:rPr lang="en-US" sz="1400" i="1" dirty="0">
                <a:solidFill>
                  <a:srgbClr val="4B5563"/>
                </a:solidFill>
                <a:latin typeface="Arial" pitchFamily="34" charset="0"/>
                <a:ea typeface="Arial" pitchFamily="34" charset="-122"/>
                <a:cs typeface="Arial" pitchFamily="34" charset="-120"/>
              </a:rPr>
              <a:t>First project open auto-installs plugin dependencies — internet needed ONCE</a:t>
            </a:r>
            <a:endParaRPr lang="en-US" sz="18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Get the code</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234440"/>
            <a:ext cx="11274552" cy="411480"/>
          </a:xfrm>
          <a:prstGeom prst="rect">
            <a:avLst/>
          </a:prstGeom>
          <a:noFill/>
          <a:ln/>
        </p:spPr>
        <p:txBody>
          <a:bodyPr wrap="square" rtlCol="0" anchor="ctr"/>
          <a:lstStyle/>
          <a:p>
            <a:pPr indent="0" marL="0">
              <a:buNone/>
            </a:pPr>
            <a:r>
              <a:rPr lang="en-US" sz="1500" b="1" dirty="0">
                <a:solidFill>
                  <a:srgbClr val="111827"/>
                </a:solidFill>
                <a:latin typeface="Arial" pitchFamily="34" charset="0"/>
                <a:ea typeface="Arial" pitchFamily="34" charset="-122"/>
                <a:cs typeface="Arial" pitchFamily="34" charset="-120"/>
              </a:rPr>
              <a:t>Option A — </a:t>
            </a:r>
            <a:pPr indent="0" marL="0">
              <a:buNone/>
            </a:pPr>
            <a:r>
              <a:rPr lang="en-US" sz="1500" b="1" dirty="0">
                <a:solidFill>
                  <a:srgbClr val="16A34A"/>
                </a:solidFill>
                <a:latin typeface="Arial" pitchFamily="34" charset="0"/>
                <a:ea typeface="Arial" pitchFamily="34" charset="-122"/>
                <a:cs typeface="Arial" pitchFamily="34" charset="-120"/>
              </a:rPr>
              <a:t>Git for Windows</a:t>
            </a:r>
            <a:pPr indent="0" marL="0">
              <a:buNone/>
            </a:pPr>
            <a:r>
              <a:rPr lang="en-US" sz="1500" dirty="0">
                <a:solidFill>
                  <a:srgbClr val="1F2937"/>
                </a:solidFill>
                <a:latin typeface="Arial" pitchFamily="34" charset="0"/>
                <a:ea typeface="Arial" pitchFamily="34" charset="-122"/>
                <a:cs typeface="Arial" pitchFamily="34" charset="-120"/>
              </a:rPr>
              <a:t> (PowerShell):</a:t>
            </a:r>
            <a:endParaRPr lang="en-US" sz="1500" dirty="0"/>
          </a:p>
        </p:txBody>
      </p:sp>
      <p:sp>
        <p:nvSpPr>
          <p:cNvPr id="6" name="Shape 4"/>
          <p:cNvSpPr/>
          <p:nvPr/>
        </p:nvSpPr>
        <p:spPr>
          <a:xfrm>
            <a:off x="457200" y="1691640"/>
            <a:ext cx="11274552" cy="1188720"/>
          </a:xfrm>
          <a:prstGeom prst="roundRect">
            <a:avLst>
              <a:gd name="adj" fmla="val 7692"/>
            </a:avLst>
          </a:prstGeom>
          <a:solidFill>
            <a:srgbClr val="F9FAFB"/>
          </a:solidFill>
          <a:ln w="6350">
            <a:solidFill>
              <a:srgbClr val="9CA3AF"/>
            </a:solidFill>
            <a:prstDash val="solid"/>
          </a:ln>
        </p:spPr>
      </p:sp>
      <p:sp>
        <p:nvSpPr>
          <p:cNvPr id="7" name="Text 5"/>
          <p:cNvSpPr/>
          <p:nvPr/>
        </p:nvSpPr>
        <p:spPr>
          <a:xfrm>
            <a:off x="685800" y="1783080"/>
            <a:ext cx="10817352" cy="1005840"/>
          </a:xfrm>
          <a:prstGeom prst="rect">
            <a:avLst/>
          </a:prstGeom>
          <a:noFill/>
          <a:ln/>
        </p:spPr>
        <p:txBody>
          <a:bodyPr wrap="square" rtlCol="0" anchor="ctr"/>
          <a:lstStyle/>
          <a:p>
            <a:pPr algn="l" indent="0" marL="0">
              <a:lnSpc>
                <a:spcPct val="115000"/>
              </a:lnSpc>
              <a:buNone/>
            </a:pPr>
            <a:r>
              <a:rPr lang="en-US" sz="1400" dirty="0">
                <a:solidFill>
                  <a:srgbClr val="1F2937"/>
                </a:solidFill>
                <a:latin typeface="Courier New" pitchFamily="34" charset="0"/>
                <a:ea typeface="Courier New" pitchFamily="34" charset="-122"/>
                <a:cs typeface="Courier New" pitchFamily="34" charset="-120"/>
              </a:rPr>
              <a:t>git clone &lt;repo-url&gt;</a:t>
            </a:r>
            <a:endParaRPr lang="en-US" sz="1400" dirty="0"/>
          </a:p>
          <a:p>
            <a:pPr algn="l" indent="0" marL="0">
              <a:lnSpc>
                <a:spcPct val="115000"/>
              </a:lnSpc>
              <a:buNone/>
            </a:pPr>
            <a:r>
              <a:rPr lang="en-US" sz="1400" dirty="0">
                <a:solidFill>
                  <a:srgbClr val="1F2937"/>
                </a:solidFill>
                <a:latin typeface="Courier New" pitchFamily="34" charset="0"/>
                <a:ea typeface="Courier New" pitchFamily="34" charset="-122"/>
                <a:cs typeface="Courier New" pitchFamily="34" charset="-120"/>
              </a:rPr>
              <a:t>cd C001</a:t>
            </a:r>
            <a:endParaRPr lang="en-US" sz="1400" dirty="0"/>
          </a:p>
        </p:txBody>
      </p:sp>
      <p:sp>
        <p:nvSpPr>
          <p:cNvPr id="8" name="Text 6"/>
          <p:cNvSpPr/>
          <p:nvPr/>
        </p:nvSpPr>
        <p:spPr>
          <a:xfrm>
            <a:off x="457200" y="3063240"/>
            <a:ext cx="11274552" cy="411480"/>
          </a:xfrm>
          <a:prstGeom prst="rect">
            <a:avLst/>
          </a:prstGeom>
          <a:noFill/>
          <a:ln/>
        </p:spPr>
        <p:txBody>
          <a:bodyPr wrap="square" rtlCol="0" anchor="ctr"/>
          <a:lstStyle/>
          <a:p>
            <a:pPr indent="0" marL="0">
              <a:buNone/>
            </a:pPr>
            <a:r>
              <a:rPr lang="en-US" sz="1500" b="1" dirty="0">
                <a:solidFill>
                  <a:srgbClr val="111827"/>
                </a:solidFill>
                <a:latin typeface="Arial" pitchFamily="34" charset="0"/>
                <a:ea typeface="Arial" pitchFamily="34" charset="-122"/>
                <a:cs typeface="Arial" pitchFamily="34" charset="-120"/>
              </a:rPr>
              <a:t>Option B — </a:t>
            </a:r>
            <a:pPr indent="0" marL="0">
              <a:buNone/>
            </a:pPr>
            <a:r>
              <a:rPr lang="en-US" sz="1500" b="1" dirty="0">
                <a:solidFill>
                  <a:srgbClr val="16A34A"/>
                </a:solidFill>
                <a:latin typeface="Arial" pitchFamily="34" charset="0"/>
                <a:ea typeface="Arial" pitchFamily="34" charset="-122"/>
                <a:cs typeface="Arial" pitchFamily="34" charset="-120"/>
              </a:rPr>
              <a:t>GitHub → Code → Download ZIP</a:t>
            </a:r>
            <a:pPr indent="0" marL="0">
              <a:buNone/>
            </a:pPr>
            <a:r>
              <a:rPr lang="en-US" sz="1500" dirty="0">
                <a:solidFill>
                  <a:srgbClr val="1F2937"/>
                </a:solidFill>
                <a:latin typeface="Arial" pitchFamily="34" charset="0"/>
                <a:ea typeface="Arial" pitchFamily="34" charset="-122"/>
                <a:cs typeface="Arial" pitchFamily="34" charset="-120"/>
              </a:rPr>
              <a:t> → extract</a:t>
            </a:r>
            <a:endParaRPr lang="en-US" sz="1500" dirty="0"/>
          </a:p>
        </p:txBody>
      </p:sp>
      <p:sp>
        <p:nvSpPr>
          <p:cNvPr id="9" name="Text 7"/>
          <p:cNvSpPr/>
          <p:nvPr/>
        </p:nvSpPr>
        <p:spPr>
          <a:xfrm>
            <a:off x="457200" y="3611880"/>
            <a:ext cx="11274552" cy="457200"/>
          </a:xfrm>
          <a:prstGeom prst="rect">
            <a:avLst/>
          </a:prstGeom>
          <a:noFill/>
          <a:ln/>
        </p:spPr>
        <p:txBody>
          <a:bodyPr wrap="square" rtlCol="0" anchor="ctr"/>
          <a:lstStyle/>
          <a:p>
            <a:pPr indent="0" marL="0">
              <a:buNone/>
            </a:pPr>
            <a:r>
              <a:rPr lang="en-US" sz="1500" dirty="0">
                <a:solidFill>
                  <a:srgbClr val="1F2937"/>
                </a:solidFill>
                <a:latin typeface="Arial" pitchFamily="34" charset="0"/>
                <a:ea typeface="Arial" pitchFamily="34" charset="-122"/>
                <a:cs typeface="Arial" pitchFamily="34" charset="-120"/>
              </a:rPr>
              <a:t>Then in OpenCode:  </a:t>
            </a:r>
            <a:pPr indent="0" marL="0">
              <a:buNone/>
            </a:pPr>
            <a:r>
              <a:rPr lang="en-US" sz="1500" b="1" dirty="0">
                <a:solidFill>
                  <a:srgbClr val="111827"/>
                </a:solidFill>
                <a:latin typeface="Arial" pitchFamily="34" charset="0"/>
                <a:ea typeface="Arial" pitchFamily="34" charset="-122"/>
                <a:cs typeface="Arial" pitchFamily="34" charset="-120"/>
              </a:rPr>
              <a:t>File → Open Folder… → starter/</a:t>
            </a:r>
            <a:endParaRPr lang="en-US" sz="1500" dirty="0"/>
          </a:p>
        </p:txBody>
      </p:sp>
      <p:sp>
        <p:nvSpPr>
          <p:cNvPr id="10" name="Text 8"/>
          <p:cNvSpPr/>
          <p:nvPr/>
        </p:nvSpPr>
        <p:spPr>
          <a:xfrm>
            <a:off x="457200" y="4206240"/>
            <a:ext cx="11274552" cy="1645920"/>
          </a:xfrm>
          <a:prstGeom prst="rect">
            <a:avLst/>
          </a:prstGeom>
          <a:noFill/>
          <a:ln/>
        </p:spPr>
        <p:txBody>
          <a:bodyPr wrap="square" rtlCol="0" anchor="t"/>
          <a:lstStyle/>
          <a:p>
            <a:pPr marL="342900" indent="-342900">
              <a:lnSpc>
                <a:spcPct val="130000"/>
              </a:lnSpc>
              <a:spcAft>
                <a:spcPts val="800"/>
              </a:spcAft>
              <a:buSzPct val="100000"/>
              <a:buChar char="•"/>
            </a:pPr>
            <a:r>
              <a:rPr lang="en-US" sz="1500" dirty="0">
                <a:solidFill>
                  <a:srgbClr val="1F2937"/>
                </a:solidFill>
                <a:latin typeface="Courier New" pitchFamily="34" charset="0"/>
                <a:ea typeface="Courier New" pitchFamily="34" charset="-122"/>
                <a:cs typeface="Courier New" pitchFamily="34" charset="-120"/>
              </a:rPr>
              <a:t>starter/</a:t>
            </a:r>
            <a:endParaRPr lang="en-US" sz="1500" dirty="0"/>
          </a:p>
          <a:p>
            <a:pPr marL="342900" indent="-342900">
              <a:lnSpc>
                <a:spcPct val="130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 → </a:t>
            </a:r>
            <a:endParaRPr lang="en-US" sz="1500" dirty="0"/>
          </a:p>
          <a:p>
            <a:pPr marL="342900" indent="-342900">
              <a:lnSpc>
                <a:spcPct val="130000"/>
              </a:lnSpc>
              <a:spcAft>
                <a:spcPts val="800"/>
              </a:spcAft>
              <a:buSzPct val="100000"/>
              <a:buChar char="•"/>
            </a:pPr>
            <a:r>
              <a:rPr lang="en-US" sz="1500" b="1" dirty="0">
                <a:solidFill>
                  <a:srgbClr val="16A34A"/>
                </a:solidFill>
                <a:latin typeface="Arial" pitchFamily="34" charset="0"/>
                <a:ea typeface="Arial" pitchFamily="34" charset="-122"/>
                <a:cs typeface="Arial" pitchFamily="34" charset="-120"/>
              </a:rPr>
              <a:t>your project</a:t>
            </a:r>
            <a:endParaRPr lang="en-US" sz="1500" dirty="0"/>
          </a:p>
          <a:p>
            <a:pPr marL="342900" indent="-342900">
              <a:lnSpc>
                <a:spcPct val="130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 (with TODOs)</a:t>
            </a:r>
            <a:endParaRPr lang="en-US" sz="1500" dirty="0"/>
          </a:p>
          <a:p>
            <a:pPr marL="342900" indent="-342900">
              <a:lnSpc>
                <a:spcPct val="130000"/>
              </a:lnSpc>
              <a:spcAft>
                <a:spcPts val="800"/>
              </a:spcAft>
              <a:buSzPct val="100000"/>
              <a:buChar char="•"/>
            </a:pPr>
            <a:r>
              <a:rPr lang="en-US" sz="1500" dirty="0">
                <a:solidFill>
                  <a:srgbClr val="1F2937"/>
                </a:solidFill>
                <a:latin typeface="Courier New" pitchFamily="34" charset="0"/>
                <a:ea typeface="Courier New" pitchFamily="34" charset="-122"/>
                <a:cs typeface="Courier New" pitchFamily="34" charset="-120"/>
              </a:rPr>
              <a:t>solution/</a:t>
            </a:r>
            <a:endParaRPr lang="en-US" sz="1500" dirty="0"/>
          </a:p>
          <a:p>
            <a:pPr marL="342900" indent="-342900">
              <a:lnSpc>
                <a:spcPct val="130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 → the teacher's copy. </a:t>
            </a:r>
            <a:endParaRPr lang="en-US" sz="1500" dirty="0"/>
          </a:p>
          <a:p>
            <a:pPr marL="342900" indent="-342900">
              <a:lnSpc>
                <a:spcPct val="130000"/>
              </a:lnSpc>
              <a:spcAft>
                <a:spcPts val="800"/>
              </a:spcAft>
              <a:buSzPct val="100000"/>
              <a:buChar char="•"/>
            </a:pPr>
            <a:r>
              <a:rPr lang="en-US" sz="1500" b="1" dirty="0">
                <a:solidFill>
                  <a:srgbClr val="16A34A"/>
                </a:solidFill>
                <a:latin typeface="Arial" pitchFamily="34" charset="0"/>
                <a:ea typeface="Arial" pitchFamily="34" charset="-122"/>
                <a:cs typeface="Arial" pitchFamily="34" charset="-120"/>
              </a:rPr>
              <a:t>Don't peek. 🙈</a:t>
            </a:r>
            <a:endParaRPr lang="en-US" sz="15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Pick a free model</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554480"/>
            <a:ext cx="11274552" cy="4023360"/>
          </a:xfrm>
          <a:prstGeom prst="rect">
            <a:avLst/>
          </a:prstGeom>
          <a:noFill/>
          <a:ln/>
        </p:spPr>
        <p:txBody>
          <a:bodyPr wrap="square" rtlCol="0" anchor="t"/>
          <a:lstStyle/>
          <a:p>
            <a:pPr indent="0" marL="0">
              <a:lnSpc>
                <a:spcPct val="135000"/>
              </a:lnSpc>
              <a:spcAft>
                <a:spcPts val="1200"/>
              </a:spcAft>
              <a:buNone/>
            </a:pPr>
            <a:r>
              <a:rPr lang="en-US" sz="1700" dirty="0">
                <a:solidFill>
                  <a:srgbClr val="1F2937"/>
                </a:solidFill>
                <a:latin typeface="Arial" pitchFamily="34" charset="0"/>
                <a:ea typeface="Arial" pitchFamily="34" charset="-122"/>
                <a:cs typeface="Arial" pitchFamily="34" charset="-120"/>
              </a:rPr>
              <a:t>Model selector (bottom of the window) → </a:t>
            </a:r>
            <a:pPr indent="0" marL="0">
              <a:lnSpc>
                <a:spcPct val="135000"/>
              </a:lnSpc>
              <a:spcAft>
                <a:spcPts val="1200"/>
              </a:spcAft>
              <a:buNone/>
            </a:pPr>
            <a:r>
              <a:rPr lang="en-US" sz="1700" b="1" dirty="0">
                <a:solidFill>
                  <a:srgbClr val="16A34A"/>
                </a:solidFill>
                <a:latin typeface="Arial" pitchFamily="34" charset="0"/>
                <a:ea typeface="Arial" pitchFamily="34" charset="-122"/>
                <a:cs typeface="Arial" pitchFamily="34" charset="-120"/>
              </a:rPr>
              <a:t>Big Pickle</a:t>
            </a:r>
            <a:endParaRPr lang="en-US" sz="1700" dirty="0"/>
          </a:p>
          <a:p>
            <a:pPr marL="342900" indent="-342900">
              <a:lnSpc>
                <a:spcPct val="135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Other free options: </a:t>
            </a:r>
            <a:endParaRPr lang="en-US" sz="1700" dirty="0"/>
          </a:p>
          <a:p>
            <a:pPr marL="342900" indent="-342900">
              <a:lnSpc>
                <a:spcPct val="135000"/>
              </a:lnSpc>
              <a:spcAft>
                <a:spcPts val="800"/>
              </a:spcAft>
              <a:buSzPct val="100000"/>
              <a:buChar char="•"/>
            </a:pPr>
            <a:r>
              <a:rPr lang="en-US" sz="1500" dirty="0">
                <a:solidFill>
                  <a:srgbClr val="1F2937"/>
                </a:solidFill>
                <a:latin typeface="Courier New" pitchFamily="34" charset="0"/>
                <a:ea typeface="Courier New" pitchFamily="34" charset="-122"/>
                <a:cs typeface="Courier New" pitchFamily="34" charset="-120"/>
              </a:rPr>
              <a:t>nemotron-3-ultra-free · deepseek-v4-flash-free</a:t>
            </a:r>
            <a:endParaRPr lang="en-US" sz="1700" dirty="0"/>
          </a:p>
          <a:p>
            <a:pPr marL="342900" indent="-342900">
              <a:lnSpc>
                <a:spcPct val="135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First run needs internet ONCE (OpenCode auto-installs plugin deps)</a:t>
            </a:r>
            <a:endParaRPr lang="en-US" sz="1700" dirty="0"/>
          </a:p>
          <a:p>
            <a:pPr marL="342900" indent="-342900">
              <a:lnSpc>
                <a:spcPct val="135000"/>
              </a:lnSpc>
              <a:spcAft>
                <a:spcPts val="800"/>
              </a:spcAft>
              <a:buSzPct val="100000"/>
              <a:buChar char="•"/>
            </a:pPr>
            <a:r>
              <a:rPr lang="en-US" sz="1500" dirty="0">
                <a:solidFill>
                  <a:srgbClr val="1F2937"/>
                </a:solidFill>
                <a:latin typeface="Courier New" pitchFamily="34" charset="0"/>
                <a:ea typeface="Courier New" pitchFamily="34" charset="-122"/>
                <a:cs typeface="Courier New" pitchFamily="34" charset="-120"/>
              </a:rPr>
              <a:t>No provider available</a:t>
            </a:r>
            <a:endParaRPr lang="en-US" sz="1700" dirty="0"/>
          </a:p>
          <a:p>
            <a:pPr marL="342900" indent="-342900">
              <a:lnSpc>
                <a:spcPct val="135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 Wait ~30 s and retry (free-tier rate limit)</a:t>
            </a:r>
            <a:endParaRPr lang="en-US" sz="17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First chat</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371600"/>
            <a:ext cx="11274552" cy="457200"/>
          </a:xfrm>
          <a:prstGeom prst="rect">
            <a:avLst/>
          </a:prstGeom>
          <a:noFill/>
          <a:ln/>
        </p:spPr>
        <p:txBody>
          <a:bodyPr wrap="square" rtlCol="0" anchor="ctr"/>
          <a:lstStyle/>
          <a:p>
            <a:pPr indent="0" marL="0">
              <a:buNone/>
            </a:pPr>
            <a:r>
              <a:rPr lang="en-US" sz="1600" b="1" dirty="0">
                <a:solidFill>
                  <a:srgbClr val="111827"/>
                </a:solidFill>
                <a:latin typeface="Arial" pitchFamily="34" charset="0"/>
                <a:ea typeface="Arial" pitchFamily="34" charset="-122"/>
                <a:cs typeface="Arial" pitchFamily="34" charset="-120"/>
              </a:rPr>
              <a:t>New session → type:</a:t>
            </a:r>
            <a:endParaRPr lang="en-US" sz="1600" dirty="0"/>
          </a:p>
        </p:txBody>
      </p:sp>
      <p:sp>
        <p:nvSpPr>
          <p:cNvPr id="6" name="Text 4"/>
          <p:cNvSpPr/>
          <p:nvPr/>
        </p:nvSpPr>
        <p:spPr>
          <a:xfrm>
            <a:off x="457200" y="1920240"/>
            <a:ext cx="11274552" cy="1463040"/>
          </a:xfrm>
          <a:prstGeom prst="rect">
            <a:avLst/>
          </a:prstGeom>
          <a:noFill/>
          <a:ln/>
        </p:spPr>
        <p:txBody>
          <a:bodyPr wrap="square" rtlCol="0" anchor="t"/>
          <a:lstStyle/>
          <a:p>
            <a:pPr marL="342900" indent="-342900">
              <a:lnSpc>
                <a:spcPct val="130000"/>
              </a:lnSpc>
              <a:spcAft>
                <a:spcPts val="800"/>
              </a:spcAft>
              <a:buSzPct val="100000"/>
              <a:buChar char="•"/>
            </a:pPr>
            <a:r>
              <a:rPr lang="en-US" sz="1500" dirty="0">
                <a:solidFill>
                  <a:srgbClr val="1F2937"/>
                </a:solidFill>
                <a:latin typeface="Courier New" pitchFamily="34" charset="0"/>
                <a:ea typeface="Courier New" pitchFamily="34" charset="-122"/>
                <a:cs typeface="Courier New" pitchFamily="34" charset="-120"/>
              </a:rPr>
              <a:t>My name is &lt;your name&gt;. Remember it.</a:t>
            </a:r>
            <a:endParaRPr lang="en-US" sz="1500" dirty="0"/>
          </a:p>
          <a:p>
            <a:pPr marL="342900" indent="-342900">
              <a:lnSpc>
                <a:spcPct val="130000"/>
              </a:lnSpc>
              <a:spcAft>
                <a:spcPts val="800"/>
              </a:spcAft>
              <a:buSzPct val="100000"/>
              <a:buChar char="•"/>
            </a:pPr>
            <a:r>
              <a:rPr lang="en-US" sz="1500" dirty="0">
                <a:solidFill>
                  <a:srgbClr val="1F2937"/>
                </a:solidFill>
                <a:latin typeface="Courier New" pitchFamily="34" charset="0"/>
                <a:ea typeface="Courier New" pitchFamily="34" charset="-122"/>
                <a:cs typeface="Courier New" pitchFamily="34" charset="-120"/>
              </a:rPr>
              <a:t>What is my name?</a:t>
            </a:r>
            <a:endParaRPr lang="en-US" sz="1500" dirty="0"/>
          </a:p>
        </p:txBody>
      </p:sp>
      <p:sp>
        <p:nvSpPr>
          <p:cNvPr id="7" name="Text 5"/>
          <p:cNvSpPr/>
          <p:nvPr/>
        </p:nvSpPr>
        <p:spPr>
          <a:xfrm>
            <a:off x="457200" y="3840480"/>
            <a:ext cx="11274552" cy="640080"/>
          </a:xfrm>
          <a:prstGeom prst="rect">
            <a:avLst/>
          </a:prstGeom>
          <a:noFill/>
          <a:ln/>
        </p:spPr>
        <p:txBody>
          <a:bodyPr wrap="square" rtlCol="0" anchor="ctr"/>
          <a:lstStyle/>
          <a:p>
            <a:pPr indent="0" marL="0">
              <a:buNone/>
            </a:pPr>
            <a:r>
              <a:rPr lang="en-US" sz="2200" dirty="0">
                <a:solidFill>
                  <a:srgbClr val="1F2937"/>
                </a:solidFill>
                <a:latin typeface="Arial" pitchFamily="34" charset="0"/>
                <a:ea typeface="Arial" pitchFamily="34" charset="-122"/>
                <a:cs typeface="Arial" pitchFamily="34" charset="-120"/>
              </a:rPr>
              <a:t>It knows… </a:t>
            </a:r>
            <a:pPr indent="0" marL="0">
              <a:buNone/>
            </a:pPr>
            <a:r>
              <a:rPr lang="en-US" sz="2200" b="1" dirty="0">
                <a:solidFill>
                  <a:srgbClr val="16A34A"/>
                </a:solidFill>
                <a:latin typeface="Arial" pitchFamily="34" charset="0"/>
                <a:ea typeface="Arial" pitchFamily="34" charset="-122"/>
                <a:cs typeface="Arial" pitchFamily="34" charset="-120"/>
              </a:rPr>
              <a:t>for now. 😏</a:t>
            </a:r>
            <a:endParaRPr lang="en-US" sz="2200" dirty="0"/>
          </a:p>
        </p:txBody>
      </p:sp>
      <p:sp>
        <p:nvSpPr>
          <p:cNvPr id="8" name="Text 6"/>
          <p:cNvSpPr/>
          <p:nvPr/>
        </p:nvSpPr>
        <p:spPr>
          <a:xfrm>
            <a:off x="457200" y="5852160"/>
            <a:ext cx="11274552" cy="365760"/>
          </a:xfrm>
          <a:prstGeom prst="rect">
            <a:avLst/>
          </a:prstGeom>
          <a:noFill/>
          <a:ln/>
        </p:spPr>
        <p:txBody>
          <a:bodyPr wrap="square" rtlCol="0" anchor="ctr"/>
          <a:lstStyle/>
          <a:p>
            <a:pPr indent="0" marL="0">
              <a:buNone/>
            </a:pPr>
            <a:r>
              <a:rPr lang="en-US" sz="1200" i="1" dirty="0">
                <a:solidFill>
                  <a:srgbClr val="4B5563"/>
                </a:solidFill>
                <a:latin typeface="Arial" pitchFamily="34" charset="0"/>
                <a:ea typeface="Arial" pitchFamily="34" charset="-122"/>
                <a:cs typeface="Arial" pitchFamily="34" charset="-120"/>
              </a:rPr>
              <a:t>Guided tutorial: type </a:t>
            </a:r>
            <a:pPr indent="0" marL="0">
              <a:buNone/>
            </a:pPr>
            <a:r>
              <a:rPr lang="en-US" sz="1200" i="1" dirty="0">
                <a:solidFill>
                  <a:srgbClr val="16A34A"/>
                </a:solidFill>
                <a:latin typeface="Courier New" pitchFamily="34" charset="0"/>
                <a:ea typeface="Courier New" pitchFamily="34" charset="-122"/>
                <a:cs typeface="Courier New" pitchFamily="34" charset="-120"/>
              </a:rPr>
              <a:t>/module-1</a:t>
            </a:r>
            <a:pPr indent="0" marL="0">
              <a:buNone/>
            </a:pPr>
            <a:r>
              <a:rPr lang="en-US" sz="1200" i="1" dirty="0">
                <a:solidFill>
                  <a:srgbClr val="4B5563"/>
                </a:solidFill>
                <a:latin typeface="Arial" pitchFamily="34" charset="0"/>
                <a:ea typeface="Arial" pitchFamily="34" charset="-122"/>
                <a:cs typeface="Arial" pitchFamily="34" charset="-120"/>
              </a:rPr>
              <a:t> — the AI becomes your step-by-step tutor (hints, not solutions).</a:t>
            </a:r>
            <a:endParaRPr lang="en-US" sz="12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The goldfish demo</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554480"/>
            <a:ext cx="11274552" cy="4206240"/>
          </a:xfrm>
          <a:prstGeom prst="rect">
            <a:avLst/>
          </a:prstGeom>
          <a:noFill/>
          <a:ln/>
        </p:spPr>
        <p:txBody>
          <a:bodyPr wrap="square" rtlCol="0" anchor="t"/>
          <a:lstStyle/>
          <a:p>
            <a:pPr indent="0" marL="0">
              <a:lnSpc>
                <a:spcPct val="130000"/>
              </a:lnSpc>
              <a:spcAft>
                <a:spcPts val="1400"/>
              </a:spcAft>
              <a:buNone/>
            </a:pPr>
            <a:r>
              <a:rPr lang="en-US" sz="1600" b="1" dirty="0">
                <a:solidFill>
                  <a:srgbClr val="111827"/>
                </a:solidFill>
                <a:latin typeface="Arial" pitchFamily="34" charset="0"/>
                <a:ea typeface="Arial" pitchFamily="34" charset="-122"/>
                <a:cs typeface="Arial" pitchFamily="34" charset="-120"/>
              </a:rPr>
              <a:t>Session 1:  </a:t>
            </a:r>
            <a:pPr indent="0" marL="0">
              <a:lnSpc>
                <a:spcPct val="130000"/>
              </a:lnSpc>
              <a:spcAft>
                <a:spcPts val="1400"/>
              </a:spcAft>
              <a:buNone/>
            </a:pPr>
            <a:r>
              <a:rPr lang="en-US" sz="1600" dirty="0">
                <a:solidFill>
                  <a:srgbClr val="1F2937"/>
                </a:solidFill>
                <a:latin typeface="Courier New" pitchFamily="34" charset="0"/>
                <a:ea typeface="Courier New" pitchFamily="34" charset="-122"/>
                <a:cs typeface="Courier New" pitchFamily="34" charset="-120"/>
              </a:rPr>
              <a:t>My name is Alex</a:t>
            </a:r>
            <a:pPr indent="0" marL="0">
              <a:lnSpc>
                <a:spcPct val="130000"/>
              </a:lnSpc>
              <a:spcAft>
                <a:spcPts val="1400"/>
              </a:spcAft>
              <a:buNone/>
            </a:pPr>
            <a:r>
              <a:rPr lang="en-US" sz="1600" dirty="0">
                <a:solidFill>
                  <a:srgbClr val="1F2937"/>
                </a:solidFill>
                <a:latin typeface="Arial" pitchFamily="34" charset="0"/>
                <a:ea typeface="Arial" pitchFamily="34" charset="-122"/>
                <a:cs typeface="Arial" pitchFamily="34" charset="-120"/>
              </a:rPr>
              <a:t>  →  </a:t>
            </a:r>
            <a:pPr indent="0" marL="0">
              <a:lnSpc>
                <a:spcPct val="130000"/>
              </a:lnSpc>
              <a:spcAft>
                <a:spcPts val="1400"/>
              </a:spcAft>
              <a:buNone/>
            </a:pPr>
            <a:r>
              <a:rPr lang="en-US" sz="1600" dirty="0">
                <a:solidFill>
                  <a:srgbClr val="1F2937"/>
                </a:solidFill>
                <a:latin typeface="Courier New" pitchFamily="34" charset="0"/>
                <a:ea typeface="Courier New" pitchFamily="34" charset="-122"/>
                <a:cs typeface="Courier New" pitchFamily="34" charset="-120"/>
              </a:rPr>
              <a:t>What is my name?</a:t>
            </a:r>
            <a:pPr indent="0" marL="0">
              <a:lnSpc>
                <a:spcPct val="130000"/>
              </a:lnSpc>
              <a:spcAft>
                <a:spcPts val="1400"/>
              </a:spcAft>
              <a:buNone/>
            </a:pPr>
            <a:r>
              <a:rPr lang="en-US" sz="1600" dirty="0">
                <a:solidFill>
                  <a:srgbClr val="1F2937"/>
                </a:solidFill>
                <a:latin typeface="Arial" pitchFamily="34" charset="0"/>
                <a:ea typeface="Arial" pitchFamily="34" charset="-122"/>
                <a:cs typeface="Arial" pitchFamily="34" charset="-120"/>
              </a:rPr>
              <a:t>  →  ✅ it knows</a:t>
            </a:r>
            <a:endParaRPr lang="en-US" sz="1600" dirty="0"/>
          </a:p>
          <a:p>
            <a:pPr indent="0" marL="0">
              <a:lnSpc>
                <a:spcPct val="130000"/>
              </a:lnSpc>
              <a:spcAft>
                <a:spcPts val="1400"/>
              </a:spcAft>
              <a:buNone/>
            </a:pPr>
            <a:r>
              <a:rPr lang="en-US" sz="1600" b="1" dirty="0">
                <a:solidFill>
                  <a:srgbClr val="111827"/>
                </a:solidFill>
                <a:latin typeface="Arial" pitchFamily="34" charset="0"/>
                <a:ea typeface="Arial" pitchFamily="34" charset="-122"/>
                <a:cs typeface="Arial" pitchFamily="34" charset="-120"/>
              </a:rPr>
              <a:t>NEW session:  </a:t>
            </a:r>
            <a:pPr indent="0" marL="0">
              <a:lnSpc>
                <a:spcPct val="130000"/>
              </a:lnSpc>
              <a:spcAft>
                <a:spcPts val="1400"/>
              </a:spcAft>
              <a:buNone/>
            </a:pPr>
            <a:r>
              <a:rPr lang="en-US" sz="1600" dirty="0">
                <a:solidFill>
                  <a:srgbClr val="1F2937"/>
                </a:solidFill>
                <a:latin typeface="Courier New" pitchFamily="34" charset="0"/>
                <a:ea typeface="Courier New" pitchFamily="34" charset="-122"/>
                <a:cs typeface="Courier New" pitchFamily="34" charset="-120"/>
              </a:rPr>
              <a:t>What is my name?</a:t>
            </a:r>
            <a:pPr indent="0" marL="0">
              <a:lnSpc>
                <a:spcPct val="130000"/>
              </a:lnSpc>
              <a:spcAft>
                <a:spcPts val="1400"/>
              </a:spcAft>
              <a:buNone/>
            </a:pPr>
            <a:r>
              <a:rPr lang="en-US" sz="1600" dirty="0">
                <a:solidFill>
                  <a:srgbClr val="1F2937"/>
                </a:solidFill>
                <a:latin typeface="Arial" pitchFamily="34" charset="0"/>
                <a:ea typeface="Arial" pitchFamily="34" charset="-122"/>
                <a:cs typeface="Arial" pitchFamily="34" charset="-120"/>
              </a:rPr>
              <a:t>  →  🤷 forgotten</a:t>
            </a:r>
            <a:endParaRPr lang="en-US" sz="1600" dirty="0"/>
          </a:p>
          <a:p>
            <a:pPr indent="0" marL="0">
              <a:lnSpc>
                <a:spcPct val="130000"/>
              </a:lnSpc>
              <a:spcAft>
                <a:spcPts val="2400"/>
              </a:spcAft>
              <a:buNone/>
            </a:pPr>
            <a:r>
              <a:rPr lang="en-US" sz="1600" dirty="0">
                <a:solidFill>
                  <a:srgbClr val="1F2937"/>
                </a:solidFill>
                <a:latin typeface="Arial" pitchFamily="34" charset="0"/>
                <a:ea typeface="Arial" pitchFamily="34" charset="-122"/>
                <a:cs typeface="Arial" pitchFamily="34" charset="-120"/>
              </a:rPr>
              <a:t>Back to session 1  →  it remembers again</a:t>
            </a:r>
            <a:endParaRPr lang="en-US" sz="1600" dirty="0"/>
          </a:p>
          <a:p>
            <a:pPr indent="0" marL="0">
              <a:lnSpc>
                <a:spcPct val="130000"/>
              </a:lnSpc>
              <a:buNone/>
            </a:pPr>
            <a:r>
              <a:rPr lang="en-US" sz="2200" b="1" dirty="0">
                <a:solidFill>
                  <a:srgbClr val="16A34A"/>
                </a:solidFill>
                <a:latin typeface="Arial" pitchFamily="34" charset="0"/>
                <a:ea typeface="Arial" pitchFamily="34" charset="-122"/>
                <a:cs typeface="Arial" pitchFamily="34" charset="-120"/>
              </a:rPr>
              <a:t>Sessions ARE the context window.</a:t>
            </a:r>
            <a:endParaRPr lang="en-US" sz="1600" dirty="0"/>
          </a:p>
        </p:txBody>
      </p:sp>
      <p:sp>
        <p:nvSpPr>
          <p:cNvPr id="6" name="Text 4"/>
          <p:cNvSpPr/>
          <p:nvPr/>
        </p:nvSpPr>
        <p:spPr>
          <a:xfrm>
            <a:off x="457200" y="5897880"/>
            <a:ext cx="11274552" cy="365760"/>
          </a:xfrm>
          <a:prstGeom prst="rect">
            <a:avLst/>
          </a:prstGeom>
          <a:noFill/>
          <a:ln/>
        </p:spPr>
        <p:txBody>
          <a:bodyPr wrap="square" rtlCol="0" anchor="ctr"/>
          <a:lstStyle/>
          <a:p>
            <a:pPr indent="0" marL="0">
              <a:buNone/>
            </a:pPr>
            <a:r>
              <a:rPr lang="en-US" sz="1200" i="1" dirty="0">
                <a:solidFill>
                  <a:srgbClr val="4B5563"/>
                </a:solidFill>
                <a:latin typeface="Arial" pitchFamily="34" charset="0"/>
                <a:ea typeface="Arial" pitchFamily="34" charset="-122"/>
                <a:cs typeface="Arial" pitchFamily="34" charset="-120"/>
              </a:rPr>
              <a:t>Guided tutorial: </a:t>
            </a:r>
            <a:pPr indent="0" marL="0">
              <a:buNone/>
            </a:pPr>
            <a:r>
              <a:rPr lang="en-US" sz="1200" i="1" dirty="0">
                <a:solidFill>
                  <a:srgbClr val="16A34A"/>
                </a:solidFill>
                <a:latin typeface="Courier New" pitchFamily="34" charset="0"/>
                <a:ea typeface="Courier New" pitchFamily="34" charset="-122"/>
                <a:cs typeface="Courier New" pitchFamily="34" charset="-120"/>
              </a:rPr>
              <a:t>/module-1</a:t>
            </a:r>
            <a:endParaRPr lang="en-US" sz="12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Watch the tokens + /compact</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645920"/>
            <a:ext cx="11274552" cy="3840480"/>
          </a:xfrm>
          <a:prstGeom prst="rect">
            <a:avLst/>
          </a:prstGeom>
          <a:noFill/>
          <a:ln/>
        </p:spPr>
        <p:txBody>
          <a:bodyPr wrap="square" rtlCol="0" anchor="t"/>
          <a:lstStyle/>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Every message makes the </a:t>
            </a:r>
            <a:endParaRPr lang="en-US" sz="1600" dirty="0"/>
          </a:p>
          <a:p>
            <a:pPr marL="342900" indent="-342900">
              <a:lnSpc>
                <a:spcPct val="140000"/>
              </a:lnSpc>
              <a:spcAft>
                <a:spcPts val="800"/>
              </a:spcAft>
              <a:buSzPct val="100000"/>
              <a:buChar char="•"/>
            </a:pPr>
            <a:r>
              <a:rPr lang="en-US" sz="1600" b="1" dirty="0">
                <a:solidFill>
                  <a:srgbClr val="16A34A"/>
                </a:solidFill>
                <a:latin typeface="Arial" pitchFamily="34" charset="0"/>
                <a:ea typeface="Arial" pitchFamily="34" charset="-122"/>
                <a:cs typeface="Arial" pitchFamily="34" charset="-120"/>
              </a:rPr>
              <a:t>token counter</a:t>
            </a:r>
            <a:endParaRPr lang="en-US" sz="1600" dirty="0"/>
          </a:p>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 grow — the app resends the whole session</a:t>
            </a:r>
            <a:endParaRPr lang="en-US" sz="1600" dirty="0"/>
          </a:p>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The window has a budget → </a:t>
            </a:r>
            <a:endParaRPr lang="en-US" sz="1600" dirty="0"/>
          </a:p>
          <a:p>
            <a:pPr marL="342900" indent="-342900">
              <a:lnSpc>
                <a:spcPct val="140000"/>
              </a:lnSpc>
              <a:spcAft>
                <a:spcPts val="800"/>
              </a:spcAft>
              <a:buSzPct val="100000"/>
              <a:buChar char="•"/>
            </a:pPr>
            <a:r>
              <a:rPr lang="en-US" sz="1600" b="1" dirty="0">
                <a:solidFill>
                  <a:srgbClr val="16A34A"/>
                </a:solidFill>
                <a:latin typeface="Courier New" pitchFamily="34" charset="0"/>
                <a:ea typeface="Courier New" pitchFamily="34" charset="-122"/>
                <a:cs typeface="Courier New" pitchFamily="34" charset="-120"/>
              </a:rPr>
              <a:t>/compact</a:t>
            </a:r>
            <a:endParaRPr lang="en-US" sz="1600" dirty="0"/>
          </a:p>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 summarizes the history so it fits</a:t>
            </a:r>
            <a:endParaRPr lang="en-US" sz="1600" dirty="0"/>
          </a:p>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After </a:t>
            </a:r>
            <a:endParaRPr lang="en-US" sz="1600" dirty="0"/>
          </a:p>
          <a:p>
            <a:pPr marL="342900" indent="-342900">
              <a:lnSpc>
                <a:spcPct val="140000"/>
              </a:lnSpc>
              <a:spcAft>
                <a:spcPts val="800"/>
              </a:spcAft>
              <a:buSzPct val="100000"/>
              <a:buChar char="•"/>
            </a:pPr>
            <a:r>
              <a:rPr lang="en-US" sz="1600" dirty="0">
                <a:solidFill>
                  <a:srgbClr val="1F2937"/>
                </a:solidFill>
                <a:latin typeface="Courier New" pitchFamily="34" charset="0"/>
                <a:ea typeface="Courier New" pitchFamily="34" charset="-122"/>
                <a:cs typeface="Courier New" pitchFamily="34" charset="-120"/>
              </a:rPr>
              <a:t>/compact</a:t>
            </a:r>
            <a:endParaRPr lang="en-US" sz="1600" dirty="0"/>
          </a:p>
          <a:p>
            <a:pPr marL="342900" indent="-342900">
              <a:lnSpc>
                <a:spcPct val="140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 the name survives, the token count drops</a:t>
            </a:r>
            <a:endParaRPr lang="en-US" sz="16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/init → AGENTS.md</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645920"/>
            <a:ext cx="11274552" cy="3840480"/>
          </a:xfrm>
          <a:prstGeom prst="rect">
            <a:avLst/>
          </a:prstGeom>
          <a:noFill/>
          <a:ln/>
        </p:spPr>
        <p:txBody>
          <a:bodyPr wrap="square" rtlCol="0" anchor="t"/>
          <a:lstStyle/>
          <a:p>
            <a:pPr indent="0" marL="0">
              <a:lnSpc>
                <a:spcPct val="135000"/>
              </a:lnSpc>
              <a:spcAft>
                <a:spcPts val="1400"/>
              </a:spcAft>
              <a:buNone/>
            </a:pPr>
            <a:r>
              <a:rPr lang="en-US" sz="1700" b="1" dirty="0">
                <a:solidFill>
                  <a:srgbClr val="16A34A"/>
                </a:solidFill>
                <a:latin typeface="Courier New" pitchFamily="34" charset="0"/>
                <a:ea typeface="Courier New" pitchFamily="34" charset="-122"/>
                <a:cs typeface="Courier New" pitchFamily="34" charset="-120"/>
              </a:rPr>
              <a:t>/init</a:t>
            </a:r>
            <a:pPr indent="0" marL="0">
              <a:lnSpc>
                <a:spcPct val="135000"/>
              </a:lnSpc>
              <a:spcAft>
                <a:spcPts val="1400"/>
              </a:spcAft>
              <a:buNone/>
            </a:pPr>
            <a:r>
              <a:rPr lang="en-US" sz="1700" dirty="0">
                <a:solidFill>
                  <a:srgbClr val="1F2937"/>
                </a:solidFill>
                <a:latin typeface="Arial" pitchFamily="34" charset="0"/>
                <a:ea typeface="Arial" pitchFamily="34" charset="-122"/>
                <a:cs typeface="Arial" pitchFamily="34" charset="-120"/>
              </a:rPr>
              <a:t> generates </a:t>
            </a:r>
            <a:pPr indent="0" marL="0">
              <a:lnSpc>
                <a:spcPct val="135000"/>
              </a:lnSpc>
              <a:spcAft>
                <a:spcPts val="1400"/>
              </a:spcAft>
              <a:buNone/>
            </a:pPr>
            <a:r>
              <a:rPr lang="en-US" sz="1700" b="1" dirty="0">
                <a:solidFill>
                  <a:srgbClr val="16A34A"/>
                </a:solidFill>
                <a:latin typeface="Courier New" pitchFamily="34" charset="0"/>
                <a:ea typeface="Courier New" pitchFamily="34" charset="-122"/>
                <a:cs typeface="Courier New" pitchFamily="34" charset="-120"/>
              </a:rPr>
              <a:t>AGENTS.md</a:t>
            </a:r>
            <a:pPr indent="0" marL="0">
              <a:lnSpc>
                <a:spcPct val="135000"/>
              </a:lnSpc>
              <a:spcAft>
                <a:spcPts val="1400"/>
              </a:spcAft>
              <a:buNone/>
            </a:pPr>
            <a:r>
              <a:rPr lang="en-US" sz="1700" dirty="0">
                <a:solidFill>
                  <a:srgbClr val="1F2937"/>
                </a:solidFill>
                <a:latin typeface="Arial" pitchFamily="34" charset="0"/>
                <a:ea typeface="Arial" pitchFamily="34" charset="-122"/>
                <a:cs typeface="Arial" pitchFamily="34" charset="-120"/>
              </a:rPr>
              <a:t> — project rules injected into EVERY session</a:t>
            </a:r>
            <a:endParaRPr lang="en-US" sz="1700" dirty="0"/>
          </a:p>
          <a:p>
            <a:pPr marL="342900" indent="-342900">
              <a:lnSpc>
                <a:spcPct val="135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Persistent memory that survives new sessions</a:t>
            </a:r>
            <a:endParaRPr lang="en-US" sz="1700" dirty="0"/>
          </a:p>
          <a:p>
            <a:pPr marL="342900" indent="-342900">
              <a:lnSpc>
                <a:spcPct val="135000"/>
              </a:lnSpc>
              <a:spcAft>
                <a:spcPts val="800"/>
              </a:spcAft>
              <a:buSzPct val="100000"/>
              <a:buChar char="•"/>
            </a:pPr>
            <a:r>
              <a:rPr lang="en-US" sz="1600" dirty="0">
                <a:solidFill>
                  <a:srgbClr val="1F2937"/>
                </a:solidFill>
                <a:latin typeface="Courier New" pitchFamily="34" charset="0"/>
                <a:ea typeface="Courier New" pitchFamily="34" charset="-122"/>
                <a:cs typeface="Courier New" pitchFamily="34" charset="-120"/>
              </a:rPr>
              <a:t>starter/AGENTS.md</a:t>
            </a:r>
            <a:endParaRPr lang="en-US" sz="1700" dirty="0"/>
          </a:p>
          <a:p>
            <a:pPr marL="342900" indent="-342900">
              <a:lnSpc>
                <a:spcPct val="135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 already describes the fleet, the DB and the </a:t>
            </a:r>
            <a:endParaRPr lang="en-US" sz="1700" dirty="0"/>
          </a:p>
          <a:p>
            <a:pPr marL="342900" indent="-342900">
              <a:lnSpc>
                <a:spcPct val="135000"/>
              </a:lnSpc>
              <a:spcAft>
                <a:spcPts val="800"/>
              </a:spcAft>
              <a:buSzPct val="100000"/>
              <a:buChar char="•"/>
            </a:pPr>
            <a:r>
              <a:rPr lang="en-US" sz="1600" dirty="0">
                <a:solidFill>
                  <a:srgbClr val="1F2937"/>
                </a:solidFill>
                <a:latin typeface="Courier New" pitchFamily="34" charset="0"/>
                <a:ea typeface="Courier New" pitchFamily="34" charset="-122"/>
                <a:cs typeface="Courier New" pitchFamily="34" charset="-120"/>
              </a:rPr>
              <a:t>fleet_*</a:t>
            </a:r>
            <a:endParaRPr lang="en-US" sz="1700" dirty="0"/>
          </a:p>
          <a:p>
            <a:pPr marL="342900" indent="-342900">
              <a:lnSpc>
                <a:spcPct val="135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 tools</a:t>
            </a:r>
            <a:endParaRPr lang="en-US" sz="1700" dirty="0"/>
          </a:p>
          <a:p>
            <a:pPr marL="342900" indent="-342900">
              <a:lnSpc>
                <a:spcPct val="135000"/>
              </a:lnSpc>
              <a:spcAft>
                <a:spcPts val="800"/>
              </a:spcAft>
              <a:buSzPct val="100000"/>
              <a:buChar char="•"/>
            </a:pPr>
            <a:r>
              <a:rPr lang="en-US" sz="1600" dirty="0">
                <a:solidFill>
                  <a:srgbClr val="1F2937"/>
                </a:solidFill>
                <a:latin typeface="Arial" pitchFamily="34" charset="0"/>
                <a:ea typeface="Arial" pitchFamily="34" charset="-122"/>
                <a:cs typeface="Arial" pitchFamily="34" charset="-120"/>
              </a:rPr>
              <a:t>In Module 2 you will add a rule of your own</a:t>
            </a:r>
            <a:endParaRPr lang="en-US" sz="17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The confident liar</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280160"/>
            <a:ext cx="11274552" cy="457200"/>
          </a:xfrm>
          <a:prstGeom prst="rect">
            <a:avLst/>
          </a:prstGeom>
          <a:noFill/>
          <a:ln/>
        </p:spPr>
        <p:txBody>
          <a:bodyPr wrap="square" rtlCol="0" anchor="ctr"/>
          <a:lstStyle/>
          <a:p>
            <a:pPr indent="0" marL="0">
              <a:buNone/>
            </a:pPr>
            <a:r>
              <a:rPr lang="en-US" sz="1600" dirty="0">
                <a:solidFill>
                  <a:srgbClr val="1F2937"/>
                </a:solidFill>
                <a:latin typeface="Arial" pitchFamily="34" charset="0"/>
                <a:ea typeface="Arial" pitchFamily="34" charset="-122"/>
                <a:cs typeface="Arial" pitchFamily="34" charset="-120"/>
              </a:rPr>
              <a:t>In an EMPTY window (no project), push it:</a:t>
            </a:r>
            <a:endParaRPr lang="en-US" sz="1600" dirty="0"/>
          </a:p>
        </p:txBody>
      </p:sp>
      <p:sp>
        <p:nvSpPr>
          <p:cNvPr id="6" name="Shape 4"/>
          <p:cNvSpPr/>
          <p:nvPr/>
        </p:nvSpPr>
        <p:spPr>
          <a:xfrm>
            <a:off x="457200" y="1828800"/>
            <a:ext cx="11274552" cy="1737360"/>
          </a:xfrm>
          <a:prstGeom prst="roundRect">
            <a:avLst>
              <a:gd name="adj" fmla="val 5263"/>
            </a:avLst>
          </a:prstGeom>
          <a:solidFill>
            <a:srgbClr val="F9FAFB"/>
          </a:solidFill>
          <a:ln w="6350">
            <a:solidFill>
              <a:srgbClr val="9CA3AF"/>
            </a:solidFill>
            <a:prstDash val="solid"/>
          </a:ln>
        </p:spPr>
      </p:sp>
      <p:sp>
        <p:nvSpPr>
          <p:cNvPr id="7" name="Text 5"/>
          <p:cNvSpPr/>
          <p:nvPr/>
        </p:nvSpPr>
        <p:spPr>
          <a:xfrm>
            <a:off x="685800" y="1920240"/>
            <a:ext cx="10817352" cy="1554480"/>
          </a:xfrm>
          <a:prstGeom prst="rect">
            <a:avLst/>
          </a:prstGeom>
          <a:noFill/>
          <a:ln/>
        </p:spPr>
        <p:txBody>
          <a:bodyPr wrap="square" rtlCol="0" anchor="ctr"/>
          <a:lstStyle/>
          <a:p>
            <a:pPr algn="l" indent="0" marL="0">
              <a:lnSpc>
                <a:spcPct val="115000"/>
              </a:lnSpc>
              <a:buNone/>
            </a:pPr>
            <a:r>
              <a:rPr lang="en-US" sz="1300" dirty="0">
                <a:solidFill>
                  <a:srgbClr val="1F2937"/>
                </a:solidFill>
                <a:latin typeface="Courier New" pitchFamily="34" charset="0"/>
                <a:ea typeface="Courier New" pitchFamily="34" charset="-122"/>
                <a:cs typeface="Courier New" pitchFamily="34" charset="-120"/>
              </a:rPr>
              <a:t>You're my e-bike fleet manager with 8 bikes. Give me the morning</a:t>
            </a:r>
            <a:endParaRPr lang="en-US" sz="1300" dirty="0"/>
          </a:p>
          <a:p>
            <a:pPr algn="l" indent="0" marL="0">
              <a:lnSpc>
                <a:spcPct val="115000"/>
              </a:lnSpc>
              <a:buNone/>
            </a:pPr>
            <a:r>
              <a:rPr lang="en-US" sz="1300" dirty="0">
                <a:solidFill>
                  <a:srgbClr val="1F2937"/>
                </a:solidFill>
                <a:latin typeface="Courier New" pitchFamily="34" charset="0"/>
                <a:ea typeface="Courier New" pitchFamily="34" charset="-122"/>
                <a:cs typeface="Courier New" pitchFamily="34" charset="-120"/>
              </a:rPr>
              <a:t>status report: battery levels and which bikes are broken.</a:t>
            </a:r>
            <a:endParaRPr lang="en-US" sz="1300" dirty="0"/>
          </a:p>
          <a:p>
            <a:pPr algn="l" indent="0" marL="0">
              <a:lnSpc>
                <a:spcPct val="115000"/>
              </a:lnSpc>
              <a:buNone/>
            </a:pPr>
            <a:r>
              <a:rPr lang="en-US" sz="1300" dirty="0">
                <a:solidFill>
                  <a:srgbClr val="1F2937"/>
                </a:solidFill>
                <a:latin typeface="Courier New" pitchFamily="34" charset="0"/>
                <a:ea typeface="Courier New" pitchFamily="34" charset="-122"/>
                <a:cs typeface="Courier New" pitchFamily="34" charset="-120"/>
              </a:rPr>
              <a:t>Just give me the report, no questions.</a:t>
            </a:r>
            <a:endParaRPr lang="en-US" sz="1300" dirty="0"/>
          </a:p>
        </p:txBody>
      </p:sp>
      <p:sp>
        <p:nvSpPr>
          <p:cNvPr id="8" name="Text 6"/>
          <p:cNvSpPr/>
          <p:nvPr/>
        </p:nvSpPr>
        <p:spPr>
          <a:xfrm>
            <a:off x="457200" y="3931920"/>
            <a:ext cx="11274552" cy="1645920"/>
          </a:xfrm>
          <a:prstGeom prst="rect">
            <a:avLst/>
          </a:prstGeom>
          <a:noFill/>
          <a:ln/>
        </p:spPr>
        <p:txBody>
          <a:bodyPr wrap="square" rtlCol="0" anchor="t"/>
          <a:lstStyle/>
          <a:p>
            <a:pPr indent="0" marL="0">
              <a:lnSpc>
                <a:spcPct val="130000"/>
              </a:lnSpc>
              <a:spcAft>
                <a:spcPts val="1000"/>
              </a:spcAft>
              <a:buNone/>
            </a:pPr>
            <a:r>
              <a:rPr lang="en-US" sz="1700" b="1" dirty="0">
                <a:solidFill>
                  <a:srgbClr val="16A34A"/>
                </a:solidFill>
                <a:latin typeface="Arial" pitchFamily="34" charset="0"/>
                <a:ea typeface="Arial" pitchFamily="34" charset="-122"/>
                <a:cs typeface="Arial" pitchFamily="34" charset="-120"/>
              </a:rPr>
              <a:t>→  A full report. Made up. Very confident. 😅</a:t>
            </a:r>
            <a:endParaRPr lang="en-US" sz="1700" dirty="0"/>
          </a:p>
          <a:p>
            <a:pPr indent="0" marL="0">
              <a:lnSpc>
                <a:spcPct val="130000"/>
              </a:lnSpc>
              <a:buNone/>
            </a:pPr>
            <a:r>
              <a:rPr lang="en-US" sz="1600" dirty="0">
                <a:solidFill>
                  <a:srgbClr val="1F2937"/>
                </a:solidFill>
                <a:latin typeface="Arial" pitchFamily="34" charset="0"/>
                <a:ea typeface="Arial" pitchFamily="34" charset="-122"/>
                <a:cs typeface="Arial" pitchFamily="34" charset="-120"/>
              </a:rPr>
              <a:t>Ask politely instead → it admits it has no data.  </a:t>
            </a:r>
            <a:pPr indent="0" marL="0">
              <a:lnSpc>
                <a:spcPct val="130000"/>
              </a:lnSpc>
              <a:buNone/>
            </a:pPr>
            <a:r>
              <a:rPr lang="en-US" sz="1600" b="1" dirty="0">
                <a:solidFill>
                  <a:srgbClr val="111827"/>
                </a:solidFill>
                <a:latin typeface="Arial" pitchFamily="34" charset="0"/>
                <a:ea typeface="Arial" pitchFamily="34" charset="-122"/>
                <a:cs typeface="Arial" pitchFamily="34" charset="-120"/>
              </a:rPr>
              <a:t>Hallucination.</a:t>
            </a:r>
            <a:endParaRPr lang="en-US" sz="1700" dirty="0"/>
          </a:p>
        </p:txBody>
      </p:sp>
      <p:sp>
        <p:nvSpPr>
          <p:cNvPr id="9" name="Text 7"/>
          <p:cNvSpPr/>
          <p:nvPr/>
        </p:nvSpPr>
        <p:spPr>
          <a:xfrm>
            <a:off x="457200" y="5897880"/>
            <a:ext cx="11274552" cy="365760"/>
          </a:xfrm>
          <a:prstGeom prst="rect">
            <a:avLst/>
          </a:prstGeom>
          <a:noFill/>
          <a:ln/>
        </p:spPr>
        <p:txBody>
          <a:bodyPr wrap="square" rtlCol="0" anchor="ctr"/>
          <a:lstStyle/>
          <a:p>
            <a:pPr indent="0" marL="0">
              <a:buNone/>
            </a:pPr>
            <a:r>
              <a:rPr lang="en-US" sz="1200" i="1" dirty="0">
                <a:solidFill>
                  <a:srgbClr val="4B5563"/>
                </a:solidFill>
                <a:latin typeface="Arial" pitchFamily="34" charset="0"/>
                <a:ea typeface="Arial" pitchFamily="34" charset="-122"/>
                <a:cs typeface="Arial" pitchFamily="34" charset="-120"/>
              </a:rPr>
              <a:t>Guided tutorial: </a:t>
            </a:r>
            <a:pPr indent="0" marL="0">
              <a:buNone/>
            </a:pPr>
            <a:r>
              <a:rPr lang="en-US" sz="1200" i="1" dirty="0">
                <a:solidFill>
                  <a:srgbClr val="16A34A"/>
                </a:solidFill>
                <a:latin typeface="Courier New" pitchFamily="34" charset="0"/>
                <a:ea typeface="Courier New" pitchFamily="34" charset="-122"/>
                <a:cs typeface="Courier New" pitchFamily="34" charset="-120"/>
              </a:rPr>
              <a:t>/module-2</a:t>
            </a:r>
            <a:endParaRPr lang="en-US" sz="12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Grounding: the fix is a rule</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371600"/>
            <a:ext cx="11274552" cy="2011680"/>
          </a:xfrm>
          <a:prstGeom prst="rect">
            <a:avLst/>
          </a:prstGeom>
          <a:noFill/>
          <a:ln/>
        </p:spPr>
        <p:txBody>
          <a:bodyPr wrap="square" rtlCol="0" anchor="t"/>
          <a:lstStyle/>
          <a:p>
            <a:pPr indent="0" marL="0">
              <a:lnSpc>
                <a:spcPct val="130000"/>
              </a:lnSpc>
              <a:spcAft>
                <a:spcPts val="800"/>
              </a:spcAft>
              <a:buNone/>
            </a:pPr>
            <a:r>
              <a:rPr lang="en-US" sz="1500" dirty="0">
                <a:solidFill>
                  <a:srgbClr val="1F2937"/>
                </a:solidFill>
                <a:latin typeface="Arial" pitchFamily="34" charset="0"/>
                <a:ea typeface="Arial" pitchFamily="34" charset="-122"/>
                <a:cs typeface="Arial" pitchFamily="34" charset="-120"/>
              </a:rPr>
              <a:t>Open </a:t>
            </a:r>
            <a:pPr indent="0" marL="0">
              <a:lnSpc>
                <a:spcPct val="130000"/>
              </a:lnSpc>
              <a:spcAft>
                <a:spcPts val="800"/>
              </a:spcAft>
              <a:buNone/>
            </a:pPr>
            <a:r>
              <a:rPr lang="en-US" sz="1500" dirty="0">
                <a:solidFill>
                  <a:srgbClr val="1F2937"/>
                </a:solidFill>
                <a:latin typeface="Courier New" pitchFamily="34" charset="0"/>
                <a:ea typeface="Courier New" pitchFamily="34" charset="-122"/>
                <a:cs typeface="Courier New" pitchFamily="34" charset="-120"/>
              </a:rPr>
              <a:t>starter/</a:t>
            </a:r>
            <a:pPr indent="0" marL="0">
              <a:lnSpc>
                <a:spcPct val="130000"/>
              </a:lnSpc>
              <a:spcAft>
                <a:spcPts val="800"/>
              </a:spcAft>
              <a:buNone/>
            </a:pPr>
            <a:r>
              <a:rPr lang="en-US" sz="1500" dirty="0">
                <a:solidFill>
                  <a:srgbClr val="1F2937"/>
                </a:solidFill>
                <a:latin typeface="Arial" pitchFamily="34" charset="0"/>
                <a:ea typeface="Arial" pitchFamily="34" charset="-122"/>
                <a:cs typeface="Arial" pitchFamily="34" charset="-120"/>
              </a:rPr>
              <a:t> → </a:t>
            </a:r>
            <a:pPr indent="0" marL="0">
              <a:lnSpc>
                <a:spcPct val="130000"/>
              </a:lnSpc>
              <a:spcAft>
                <a:spcPts val="800"/>
              </a:spcAft>
              <a:buNone/>
            </a:pPr>
            <a:r>
              <a:rPr lang="en-US" sz="1500" dirty="0">
                <a:solidFill>
                  <a:srgbClr val="1F2937"/>
                </a:solidFill>
                <a:latin typeface="Courier New" pitchFamily="34" charset="0"/>
                <a:ea typeface="Courier New" pitchFamily="34" charset="-122"/>
                <a:cs typeface="Courier New" pitchFamily="34" charset="-120"/>
              </a:rPr>
              <a:t>How is the fleet? Which bikes are broken?</a:t>
            </a:r>
            <a:endParaRPr lang="en-US" sz="1500" dirty="0"/>
          </a:p>
          <a:p>
            <a:pPr indent="0" marL="0">
              <a:lnSpc>
                <a:spcPct val="130000"/>
              </a:lnSpc>
              <a:spcAft>
                <a:spcPts val="1400"/>
              </a:spcAft>
              <a:buNone/>
            </a:pPr>
            <a:r>
              <a:rPr lang="en-US" sz="1500" dirty="0">
                <a:solidFill>
                  <a:srgbClr val="1F2937"/>
                </a:solidFill>
                <a:latin typeface="Arial" pitchFamily="34" charset="0"/>
                <a:ea typeface="Arial" pitchFamily="34" charset="-122"/>
                <a:cs typeface="Arial" pitchFamily="34" charset="-120"/>
              </a:rPr>
              <a:t>→  It calls </a:t>
            </a:r>
            <a:pPr indent="0" marL="0">
              <a:lnSpc>
                <a:spcPct val="130000"/>
              </a:lnSpc>
              <a:spcAft>
                <a:spcPts val="1400"/>
              </a:spcAft>
              <a:buNone/>
            </a:pPr>
            <a:r>
              <a:rPr lang="en-US" sz="1500" dirty="0">
                <a:solidFill>
                  <a:srgbClr val="1F2937"/>
                </a:solidFill>
                <a:latin typeface="Courier New" pitchFamily="34" charset="0"/>
                <a:ea typeface="Courier New" pitchFamily="34" charset="-122"/>
                <a:cs typeface="Courier New" pitchFamily="34" charset="-120"/>
              </a:rPr>
              <a:t>fleet_get_fleet_status</a:t>
            </a:r>
            <a:pPr indent="0" marL="0">
              <a:lnSpc>
                <a:spcPct val="130000"/>
              </a:lnSpc>
              <a:spcAft>
                <a:spcPts val="1400"/>
              </a:spcAft>
              <a:buNone/>
            </a:pPr>
            <a:r>
              <a:rPr lang="en-US" sz="1500" dirty="0">
                <a:solidFill>
                  <a:srgbClr val="1F2937"/>
                </a:solidFill>
                <a:latin typeface="Arial" pitchFamily="34" charset="0"/>
                <a:ea typeface="Arial" pitchFamily="34" charset="-122"/>
                <a:cs typeface="Arial" pitchFamily="34" charset="-120"/>
              </a:rPr>
              <a:t> → real data: </a:t>
            </a:r>
            <a:pPr indent="0" marL="0">
              <a:lnSpc>
                <a:spcPct val="130000"/>
              </a:lnSpc>
              <a:spcAft>
                <a:spcPts val="1400"/>
              </a:spcAft>
              <a:buNone/>
            </a:pPr>
            <a:r>
              <a:rPr lang="en-US" sz="1500" b="1" dirty="0">
                <a:solidFill>
                  <a:srgbClr val="16A34A"/>
                </a:solidFill>
                <a:latin typeface="Arial" pitchFamily="34" charset="0"/>
                <a:ea typeface="Arial" pitchFamily="34" charset="-122"/>
                <a:cs typeface="Arial" pitchFamily="34" charset="-120"/>
              </a:rPr>
              <a:t>#3, #7 broken · #5 maintenance</a:t>
            </a:r>
            <a:endParaRPr lang="en-US" sz="1500" dirty="0"/>
          </a:p>
          <a:p>
            <a:pPr indent="0" marL="0">
              <a:lnSpc>
                <a:spcPct val="130000"/>
              </a:lnSpc>
              <a:buNone/>
            </a:pPr>
            <a:r>
              <a:rPr lang="en-US" sz="1500" b="1" dirty="0">
                <a:solidFill>
                  <a:srgbClr val="16A34A"/>
                </a:solidFill>
                <a:latin typeface="Courier New" pitchFamily="34" charset="0"/>
                <a:ea typeface="Courier New" pitchFamily="34" charset="-122"/>
                <a:cs typeface="Courier New" pitchFamily="34" charset="-120"/>
              </a:rPr>
              <a:t>TODO (Module 2)</a:t>
            </a:r>
            <a:pPr indent="0" marL="0">
              <a:lnSpc>
                <a:spcPct val="130000"/>
              </a:lnSpc>
              <a:buNone/>
            </a:pPr>
            <a:r>
              <a:rPr lang="en-US" sz="1500" dirty="0">
                <a:solidFill>
                  <a:srgbClr val="1F2937"/>
                </a:solidFill>
                <a:latin typeface="Arial" pitchFamily="34" charset="0"/>
                <a:ea typeface="Arial" pitchFamily="34" charset="-122"/>
                <a:cs typeface="Arial" pitchFamily="34" charset="-120"/>
              </a:rPr>
              <a:t>  in </a:t>
            </a:r>
            <a:pPr indent="0" marL="0">
              <a:lnSpc>
                <a:spcPct val="130000"/>
              </a:lnSpc>
              <a:buNone/>
            </a:pPr>
            <a:r>
              <a:rPr lang="en-US" sz="1500" dirty="0">
                <a:solidFill>
                  <a:srgbClr val="1F2937"/>
                </a:solidFill>
                <a:latin typeface="Courier New" pitchFamily="34" charset="0"/>
                <a:ea typeface="Courier New" pitchFamily="34" charset="-122"/>
                <a:cs typeface="Courier New" pitchFamily="34" charset="-120"/>
              </a:rPr>
              <a:t>starter/AGENTS.md</a:t>
            </a:r>
            <a:pPr indent="0" marL="0">
              <a:lnSpc>
                <a:spcPct val="130000"/>
              </a:lnSpc>
              <a:buNone/>
            </a:pPr>
            <a:r>
              <a:rPr lang="en-US" sz="1500" dirty="0">
                <a:solidFill>
                  <a:srgbClr val="1F2937"/>
                </a:solidFill>
                <a:latin typeface="Arial" pitchFamily="34" charset="0"/>
                <a:ea typeface="Arial" pitchFamily="34" charset="-122"/>
                <a:cs typeface="Arial" pitchFamily="34" charset="-120"/>
              </a:rPr>
              <a:t>:</a:t>
            </a:r>
            <a:endParaRPr lang="en-US" sz="1500" dirty="0"/>
          </a:p>
        </p:txBody>
      </p:sp>
      <p:sp>
        <p:nvSpPr>
          <p:cNvPr id="6" name="Shape 4"/>
          <p:cNvSpPr/>
          <p:nvPr/>
        </p:nvSpPr>
        <p:spPr>
          <a:xfrm>
            <a:off x="457200" y="3566160"/>
            <a:ext cx="11274552" cy="1280160"/>
          </a:xfrm>
          <a:prstGeom prst="roundRect">
            <a:avLst>
              <a:gd name="adj" fmla="val 7143"/>
            </a:avLst>
          </a:prstGeom>
          <a:solidFill>
            <a:srgbClr val="F9FAFB"/>
          </a:solidFill>
          <a:ln w="6350">
            <a:solidFill>
              <a:srgbClr val="9CA3AF"/>
            </a:solidFill>
            <a:prstDash val="solid"/>
          </a:ln>
        </p:spPr>
      </p:sp>
      <p:sp>
        <p:nvSpPr>
          <p:cNvPr id="7" name="Text 5"/>
          <p:cNvSpPr/>
          <p:nvPr/>
        </p:nvSpPr>
        <p:spPr>
          <a:xfrm>
            <a:off x="685800" y="3657600"/>
            <a:ext cx="10817352" cy="1097280"/>
          </a:xfrm>
          <a:prstGeom prst="rect">
            <a:avLst/>
          </a:prstGeom>
          <a:noFill/>
          <a:ln/>
        </p:spPr>
        <p:txBody>
          <a:bodyPr wrap="square" rtlCol="0" anchor="ctr"/>
          <a:lstStyle/>
          <a:p>
            <a:pPr algn="l" indent="0" marL="0">
              <a:lnSpc>
                <a:spcPct val="115000"/>
              </a:lnSpc>
              <a:buNone/>
            </a:pPr>
            <a:r>
              <a:rPr lang="en-US" sz="1300" dirty="0">
                <a:solidFill>
                  <a:srgbClr val="1F2937"/>
                </a:solidFill>
                <a:latin typeface="Courier New" pitchFamily="34" charset="0"/>
                <a:ea typeface="Courier New" pitchFamily="34" charset="-122"/>
                <a:cs typeface="Courier New" pitchFamily="34" charset="-120"/>
              </a:rPr>
              <a:t>GROUNDING RULE: ALWAYS call the fleet_* tools before answering</a:t>
            </a:r>
            <a:endParaRPr lang="en-US" sz="1300" dirty="0"/>
          </a:p>
          <a:p>
            <a:pPr algn="l" indent="0" marL="0">
              <a:lnSpc>
                <a:spcPct val="115000"/>
              </a:lnSpc>
              <a:buNone/>
            </a:pPr>
            <a:r>
              <a:rPr lang="en-US" sz="1300" dirty="0">
                <a:solidFill>
                  <a:srgbClr val="1F2937"/>
                </a:solidFill>
                <a:latin typeface="Courier New" pitchFamily="34" charset="0"/>
                <a:ea typeface="Courier New" pitchFamily="34" charset="-122"/>
                <a:cs typeface="Courier New" pitchFamily="34" charset="-120"/>
              </a:rPr>
              <a:t>fleet questions. NEVER invent or guess fleet numbers.</a:t>
            </a:r>
            <a:endParaRPr lang="en-US" sz="13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Hooks: middleware around every action</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371600"/>
            <a:ext cx="11274552" cy="457200"/>
          </a:xfrm>
          <a:prstGeom prst="rect">
            <a:avLst/>
          </a:prstGeom>
          <a:noFill/>
          <a:ln/>
        </p:spPr>
        <p:txBody>
          <a:bodyPr wrap="square" rtlCol="0" anchor="ctr"/>
          <a:lstStyle/>
          <a:p>
            <a:pPr indent="0" marL="0">
              <a:buNone/>
            </a:pPr>
            <a:r>
              <a:rPr lang="en-US" sz="1600" dirty="0">
                <a:solidFill>
                  <a:srgbClr val="1F2937"/>
                </a:solidFill>
                <a:latin typeface="Arial" pitchFamily="34" charset="0"/>
                <a:ea typeface="Arial" pitchFamily="34" charset="-122"/>
                <a:cs typeface="Arial" pitchFamily="34" charset="-120"/>
              </a:rPr>
              <a:t>A hook = </a:t>
            </a:r>
            <a:pPr indent="0" marL="0">
              <a:buNone/>
            </a:pPr>
            <a:r>
              <a:rPr lang="en-US" sz="1600" b="1" dirty="0">
                <a:solidFill>
                  <a:srgbClr val="16A34A"/>
                </a:solidFill>
                <a:latin typeface="Arial" pitchFamily="34" charset="0"/>
                <a:ea typeface="Arial" pitchFamily="34" charset="-122"/>
                <a:cs typeface="Arial" pitchFamily="34" charset="-120"/>
              </a:rPr>
              <a:t>code that intercepts a tool call BEFORE/AFTER it runs</a:t>
            </a:r>
            <a:endParaRPr lang="en-US" sz="1600" dirty="0"/>
          </a:p>
        </p:txBody>
      </p:sp>
      <p:sp>
        <p:nvSpPr>
          <p:cNvPr id="6" name="Shape 4"/>
          <p:cNvSpPr/>
          <p:nvPr/>
        </p:nvSpPr>
        <p:spPr>
          <a:xfrm>
            <a:off x="822960" y="2651760"/>
            <a:ext cx="2926080" cy="1188720"/>
          </a:xfrm>
          <a:prstGeom prst="roundRect">
            <a:avLst>
              <a:gd name="adj" fmla="val 11538"/>
            </a:avLst>
          </a:prstGeom>
          <a:solidFill>
            <a:srgbClr val="FFFFFF"/>
          </a:solidFill>
          <a:ln w="19050">
            <a:solidFill>
              <a:srgbClr val="22C55E"/>
            </a:solidFill>
            <a:prstDash val="solid"/>
          </a:ln>
        </p:spPr>
      </p:sp>
      <p:sp>
        <p:nvSpPr>
          <p:cNvPr id="7" name="Text 5"/>
          <p:cNvSpPr/>
          <p:nvPr/>
        </p:nvSpPr>
        <p:spPr>
          <a:xfrm>
            <a:off x="822960" y="2651760"/>
            <a:ext cx="2926080" cy="1188720"/>
          </a:xfrm>
          <a:prstGeom prst="rect">
            <a:avLst/>
          </a:prstGeom>
          <a:noFill/>
          <a:ln/>
        </p:spPr>
        <p:txBody>
          <a:bodyPr wrap="square" rtlCol="0" anchor="ctr"/>
          <a:lstStyle/>
          <a:p>
            <a:pPr algn="ctr" indent="0" marL="0">
              <a:buNone/>
            </a:pPr>
            <a:r>
              <a:rPr lang="en-US" sz="1600" b="1" dirty="0">
                <a:solidFill>
                  <a:srgbClr val="111827"/>
                </a:solidFill>
                <a:latin typeface="Arial" pitchFamily="34" charset="0"/>
                <a:ea typeface="Arial" pitchFamily="34" charset="-122"/>
                <a:cs typeface="Arial" pitchFamily="34" charset="-120"/>
              </a:rPr>
              <a:t>user prompt → model</a:t>
            </a:r>
            <a:endParaRPr lang="en-US" sz="1600" dirty="0"/>
          </a:p>
        </p:txBody>
      </p:sp>
      <p:sp>
        <p:nvSpPr>
          <p:cNvPr id="8" name="Shape 6"/>
          <p:cNvSpPr/>
          <p:nvPr/>
        </p:nvSpPr>
        <p:spPr>
          <a:xfrm>
            <a:off x="4617720" y="2651760"/>
            <a:ext cx="2926080" cy="1188720"/>
          </a:xfrm>
          <a:prstGeom prst="roundRect">
            <a:avLst>
              <a:gd name="adj" fmla="val 11538"/>
            </a:avLst>
          </a:prstGeom>
          <a:solidFill>
            <a:srgbClr val="22C55E"/>
          </a:solidFill>
          <a:ln/>
        </p:spPr>
      </p:sp>
      <p:sp>
        <p:nvSpPr>
          <p:cNvPr id="9" name="Text 7"/>
          <p:cNvSpPr/>
          <p:nvPr/>
        </p:nvSpPr>
        <p:spPr>
          <a:xfrm>
            <a:off x="4617720" y="2651760"/>
            <a:ext cx="2926080" cy="1188720"/>
          </a:xfrm>
          <a:prstGeom prst="rect">
            <a:avLst/>
          </a:prstGeom>
          <a:noFill/>
          <a:ln/>
        </p:spPr>
        <p:txBody>
          <a:bodyPr wrap="square"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plugin hook</a:t>
            </a:r>
            <a:endParaRPr lang="en-US" sz="1600" dirty="0"/>
          </a:p>
        </p:txBody>
      </p:sp>
      <p:sp>
        <p:nvSpPr>
          <p:cNvPr id="10" name="Shape 8"/>
          <p:cNvSpPr/>
          <p:nvPr/>
        </p:nvSpPr>
        <p:spPr>
          <a:xfrm>
            <a:off x="8412480" y="2651760"/>
            <a:ext cx="2926080" cy="1188720"/>
          </a:xfrm>
          <a:prstGeom prst="roundRect">
            <a:avLst>
              <a:gd name="adj" fmla="val 11538"/>
            </a:avLst>
          </a:prstGeom>
          <a:solidFill>
            <a:srgbClr val="FFFFFF"/>
          </a:solidFill>
          <a:ln w="19050">
            <a:solidFill>
              <a:srgbClr val="22C55E"/>
            </a:solidFill>
            <a:prstDash val="solid"/>
          </a:ln>
        </p:spPr>
      </p:sp>
      <p:sp>
        <p:nvSpPr>
          <p:cNvPr id="11" name="Text 9"/>
          <p:cNvSpPr/>
          <p:nvPr/>
        </p:nvSpPr>
        <p:spPr>
          <a:xfrm>
            <a:off x="8412480" y="2651760"/>
            <a:ext cx="2926080" cy="1188720"/>
          </a:xfrm>
          <a:prstGeom prst="rect">
            <a:avLst/>
          </a:prstGeom>
          <a:noFill/>
          <a:ln/>
        </p:spPr>
        <p:txBody>
          <a:bodyPr wrap="square" rtlCol="0" anchor="ctr"/>
          <a:lstStyle/>
          <a:p>
            <a:pPr algn="ctr" indent="0" marL="0">
              <a:buNone/>
            </a:pPr>
            <a:r>
              <a:rPr lang="en-US" sz="1600" b="1" dirty="0">
                <a:solidFill>
                  <a:srgbClr val="111827"/>
                </a:solidFill>
                <a:latin typeface="Arial" pitchFamily="34" charset="0"/>
                <a:ea typeface="Arial" pitchFamily="34" charset="-122"/>
                <a:cs typeface="Arial" pitchFamily="34" charset="-120"/>
              </a:rPr>
              <a:t>tool execution</a:t>
            </a:r>
            <a:endParaRPr lang="en-US" sz="1600" dirty="0"/>
          </a:p>
        </p:txBody>
      </p:sp>
      <p:sp>
        <p:nvSpPr>
          <p:cNvPr id="12" name="Shape 10"/>
          <p:cNvSpPr/>
          <p:nvPr/>
        </p:nvSpPr>
        <p:spPr>
          <a:xfrm>
            <a:off x="3886200" y="3017520"/>
            <a:ext cx="594360" cy="457200"/>
          </a:xfrm>
          <a:prstGeom prst="rightArrow">
            <a:avLst/>
          </a:prstGeom>
          <a:solidFill>
            <a:srgbClr val="22C55E"/>
          </a:solidFill>
          <a:ln/>
        </p:spPr>
      </p:sp>
      <p:sp>
        <p:nvSpPr>
          <p:cNvPr id="13" name="Shape 11"/>
          <p:cNvSpPr/>
          <p:nvPr/>
        </p:nvSpPr>
        <p:spPr>
          <a:xfrm>
            <a:off x="7680960" y="3017520"/>
            <a:ext cx="594360" cy="457200"/>
          </a:xfrm>
          <a:prstGeom prst="rightArrow">
            <a:avLst/>
          </a:prstGeom>
          <a:solidFill>
            <a:srgbClr val="22C55E"/>
          </a:solidFill>
          <a:ln/>
        </p:spPr>
      </p:sp>
      <p:sp>
        <p:nvSpPr>
          <p:cNvPr id="14" name="Text 12"/>
          <p:cNvSpPr/>
          <p:nvPr/>
        </p:nvSpPr>
        <p:spPr>
          <a:xfrm>
            <a:off x="457200" y="4297680"/>
            <a:ext cx="11274552" cy="457200"/>
          </a:xfrm>
          <a:prstGeom prst="rect">
            <a:avLst/>
          </a:prstGeom>
          <a:noFill/>
          <a:ln/>
        </p:spPr>
        <p:txBody>
          <a:bodyPr wrap="square" rtlCol="0" anchor="ctr"/>
          <a:lstStyle/>
          <a:p>
            <a:pPr algn="ctr" indent="0" marL="0">
              <a:buNone/>
            </a:pPr>
            <a:r>
              <a:rPr lang="en-US" sz="1400" i="1" dirty="0">
                <a:solidFill>
                  <a:srgbClr val="4B5563"/>
                </a:solidFill>
                <a:latin typeface="Arial" pitchFamily="34" charset="0"/>
                <a:ea typeface="Arial" pitchFamily="34" charset="-122"/>
                <a:cs typeface="Arial" pitchFamily="34" charset="-120"/>
              </a:rPr>
              <a:t>Your chance to inspect, allow… or BLOCK.</a:t>
            </a:r>
            <a:endParaRPr lang="en-US" sz="14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The guard plugin</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280160"/>
            <a:ext cx="11274552" cy="457200"/>
          </a:xfrm>
          <a:prstGeom prst="rect">
            <a:avLst/>
          </a:prstGeom>
          <a:noFill/>
          <a:ln/>
        </p:spPr>
        <p:txBody>
          <a:bodyPr wrap="square" rtlCol="0" anchor="ctr"/>
          <a:lstStyle/>
          <a:p>
            <a:pPr indent="0" marL="0">
              <a:buNone/>
            </a:pPr>
            <a:r>
              <a:rPr lang="en-US" sz="1600" dirty="0">
                <a:solidFill>
                  <a:srgbClr val="1F2937"/>
                </a:solidFill>
                <a:latin typeface="Courier New" pitchFamily="34" charset="0"/>
                <a:ea typeface="Courier New" pitchFamily="34" charset="-122"/>
                <a:cs typeface="Courier New" pitchFamily="34" charset="-120"/>
              </a:rPr>
              <a:t>.opencode/plugins/guard.ts</a:t>
            </a:r>
            <a:pPr indent="0" marL="0">
              <a:buNone/>
            </a:pPr>
            <a:r>
              <a:rPr lang="en-US" sz="1600" dirty="0">
                <a:solidFill>
                  <a:srgbClr val="1F2937"/>
                </a:solidFill>
                <a:latin typeface="Arial" pitchFamily="34" charset="0"/>
                <a:ea typeface="Arial" pitchFamily="34" charset="-122"/>
                <a:cs typeface="Arial" pitchFamily="34" charset="-120"/>
              </a:rPr>
              <a:t>  —  </a:t>
            </a:r>
            <a:pPr indent="0" marL="0">
              <a:buNone/>
            </a:pPr>
            <a:r>
              <a:rPr lang="en-US" sz="1600" b="1" dirty="0">
                <a:solidFill>
                  <a:srgbClr val="16A34A"/>
                </a:solidFill>
                <a:latin typeface="Courier New" pitchFamily="34" charset="0"/>
                <a:ea typeface="Courier New" pitchFamily="34" charset="-122"/>
                <a:cs typeface="Courier New" pitchFamily="34" charset="-120"/>
              </a:rPr>
              <a:t>TODO (Module 2)</a:t>
            </a:r>
            <a:endParaRPr lang="en-US" sz="1600" dirty="0"/>
          </a:p>
        </p:txBody>
      </p:sp>
      <p:sp>
        <p:nvSpPr>
          <p:cNvPr id="6" name="Shape 4"/>
          <p:cNvSpPr/>
          <p:nvPr/>
        </p:nvSpPr>
        <p:spPr>
          <a:xfrm>
            <a:off x="457200" y="1828800"/>
            <a:ext cx="11274552" cy="1280160"/>
          </a:xfrm>
          <a:prstGeom prst="roundRect">
            <a:avLst>
              <a:gd name="adj" fmla="val 7143"/>
            </a:avLst>
          </a:prstGeom>
          <a:solidFill>
            <a:srgbClr val="F9FAFB"/>
          </a:solidFill>
          <a:ln w="6350">
            <a:solidFill>
              <a:srgbClr val="9CA3AF"/>
            </a:solidFill>
            <a:prstDash val="solid"/>
          </a:ln>
        </p:spPr>
      </p:sp>
      <p:sp>
        <p:nvSpPr>
          <p:cNvPr id="7" name="Text 5"/>
          <p:cNvSpPr/>
          <p:nvPr/>
        </p:nvSpPr>
        <p:spPr>
          <a:xfrm>
            <a:off x="685800" y="1920240"/>
            <a:ext cx="10817352" cy="1097280"/>
          </a:xfrm>
          <a:prstGeom prst="rect">
            <a:avLst/>
          </a:prstGeom>
          <a:noFill/>
          <a:ln/>
        </p:spPr>
        <p:txBody>
          <a:bodyPr wrap="square" rtlCol="0" anchor="ctr"/>
          <a:lstStyle/>
          <a:p>
            <a:pPr algn="l" indent="0" marL="0">
              <a:lnSpc>
                <a:spcPct val="115000"/>
              </a:lnSpc>
              <a:buNone/>
            </a:pPr>
            <a:r>
              <a:rPr lang="en-US" sz="1300" dirty="0">
                <a:solidFill>
                  <a:srgbClr val="1F2937"/>
                </a:solidFill>
                <a:latin typeface="Courier New" pitchFamily="34" charset="0"/>
                <a:ea typeface="Courier New" pitchFamily="34" charset="-122"/>
                <a:cs typeface="Courier New" pitchFamily="34" charset="-120"/>
              </a:rPr>
              <a:t>"tool.execute.before": bash command contains</a:t>
            </a:r>
            <a:endParaRPr lang="en-US" sz="1300" dirty="0"/>
          </a:p>
          <a:p>
            <a:pPr algn="l" indent="0" marL="0">
              <a:lnSpc>
                <a:spcPct val="115000"/>
              </a:lnSpc>
              <a:buNone/>
            </a:pPr>
            <a:r>
              <a:rPr lang="en-US" sz="1300" dirty="0">
                <a:solidFill>
                  <a:srgbClr val="1F2937"/>
                </a:solidFill>
                <a:latin typeface="Courier New" pitchFamily="34" charset="0"/>
                <a:ea typeface="Courier New" pitchFamily="34" charset="-122"/>
                <a:cs typeface="Courier New" pitchFamily="34" charset="-120"/>
              </a:rPr>
              <a:t>  "rm -rf" or "drop table"  →  throw Error  →  BLOCKED</a:t>
            </a:r>
            <a:endParaRPr lang="en-US" sz="1300" dirty="0"/>
          </a:p>
        </p:txBody>
      </p:sp>
      <p:sp>
        <p:nvSpPr>
          <p:cNvPr id="8" name="Text 6"/>
          <p:cNvSpPr/>
          <p:nvPr/>
        </p:nvSpPr>
        <p:spPr>
          <a:xfrm>
            <a:off x="457200" y="3566160"/>
            <a:ext cx="11274552" cy="1645920"/>
          </a:xfrm>
          <a:prstGeom prst="rect">
            <a:avLst/>
          </a:prstGeom>
          <a:noFill/>
          <a:ln/>
        </p:spPr>
        <p:txBody>
          <a:bodyPr wrap="square" rtlCol="0" anchor="t"/>
          <a:lstStyle/>
          <a:p>
            <a:pPr indent="0" marL="0">
              <a:lnSpc>
                <a:spcPct val="130000"/>
              </a:lnSpc>
              <a:spcAft>
                <a:spcPts val="800"/>
              </a:spcAft>
              <a:buNone/>
            </a:pPr>
            <a:r>
              <a:rPr lang="en-US" sz="1600" b="1" dirty="0">
                <a:solidFill>
                  <a:srgbClr val="111827"/>
                </a:solidFill>
                <a:latin typeface="Arial" pitchFamily="34" charset="0"/>
                <a:ea typeface="Arial" pitchFamily="34" charset="-122"/>
                <a:cs typeface="Arial" pitchFamily="34" charset="-120"/>
              </a:rPr>
              <a:t>Demo:  </a:t>
            </a:r>
            <a:pPr indent="0" marL="0">
              <a:lnSpc>
                <a:spcPct val="130000"/>
              </a:lnSpc>
              <a:spcAft>
                <a:spcPts val="800"/>
              </a:spcAft>
              <a:buNone/>
            </a:pPr>
            <a:r>
              <a:rPr lang="en-US" sz="1600" dirty="0">
                <a:solidFill>
                  <a:srgbClr val="1F2937"/>
                </a:solidFill>
                <a:latin typeface="Courier New" pitchFamily="34" charset="0"/>
                <a:ea typeface="Courier New" pitchFamily="34" charset="-122"/>
                <a:cs typeface="Courier New" pitchFamily="34" charset="-120"/>
              </a:rPr>
              <a:t>Run this exact shell command: rm -rf /tmp/whatever</a:t>
            </a:r>
            <a:endParaRPr lang="en-US" sz="1600" dirty="0"/>
          </a:p>
          <a:p>
            <a:pPr indent="0" marL="0">
              <a:lnSpc>
                <a:spcPct val="130000"/>
              </a:lnSpc>
              <a:buNone/>
            </a:pPr>
            <a:r>
              <a:rPr lang="en-US" sz="1600" dirty="0">
                <a:solidFill>
                  <a:srgbClr val="1F2937"/>
                </a:solidFill>
                <a:latin typeface="Arial" pitchFamily="34" charset="0"/>
                <a:ea typeface="Arial" pitchFamily="34" charset="-122"/>
                <a:cs typeface="Arial" pitchFamily="34" charset="-120"/>
              </a:rPr>
              <a:t>→  </a:t>
            </a:r>
            <a:pPr indent="0" marL="0">
              <a:lnSpc>
                <a:spcPct val="130000"/>
              </a:lnSpc>
              <a:buNone/>
            </a:pPr>
            <a:r>
              <a:rPr lang="en-US" sz="1600" b="1" dirty="0">
                <a:solidFill>
                  <a:srgbClr val="16A34A"/>
                </a:solidFill>
                <a:latin typeface="Arial" pitchFamily="34" charset="0"/>
                <a:ea typeface="Arial" pitchFamily="34" charset="-122"/>
                <a:cs typeface="Arial" pitchFamily="34" charset="-120"/>
              </a:rPr>
              <a:t>Blocked by fleet guard</a:t>
            </a:r>
            <a:pPr indent="0" marL="0">
              <a:lnSpc>
                <a:spcPct val="130000"/>
              </a:lnSpc>
              <a:buNone/>
            </a:pPr>
            <a:r>
              <a:rPr lang="en-US" sz="1600" dirty="0">
                <a:solidFill>
                  <a:srgbClr val="1F2937"/>
                </a:solidFill>
                <a:latin typeface="Arial" pitchFamily="34" charset="0"/>
                <a:ea typeface="Arial" pitchFamily="34" charset="-122"/>
                <a:cs typeface="Arial" pitchFamily="34" charset="-120"/>
              </a:rPr>
              <a:t>  ✅</a:t>
            </a:r>
            <a:endParaRPr lang="en-US" sz="16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Talking ≠ doing</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828800"/>
            <a:ext cx="11274552" cy="3657600"/>
          </a:xfrm>
          <a:prstGeom prst="rect">
            <a:avLst/>
          </a:prstGeom>
          <a:noFill/>
          <a:ln/>
        </p:spPr>
        <p:txBody>
          <a:bodyPr wrap="square" rtlCol="0" anchor="t"/>
          <a:lstStyle/>
          <a:p>
            <a:pPr indent="0" marL="0">
              <a:lnSpc>
                <a:spcPct val="130000"/>
              </a:lnSpc>
              <a:spcAft>
                <a:spcPts val="1200"/>
              </a:spcAft>
              <a:buNone/>
            </a:pPr>
            <a:r>
              <a:rPr lang="en-US" sz="1800" dirty="0">
                <a:solidFill>
                  <a:srgbClr val="1F2937"/>
                </a:solidFill>
                <a:latin typeface="Arial" pitchFamily="34" charset="0"/>
                <a:ea typeface="Arial" pitchFamily="34" charset="-122"/>
                <a:cs typeface="Arial" pitchFamily="34" charset="-120"/>
              </a:rPr>
              <a:t>Try:  </a:t>
            </a:r>
            <a:pPr indent="0" marL="0">
              <a:lnSpc>
                <a:spcPct val="130000"/>
              </a:lnSpc>
              <a:spcAft>
                <a:spcPts val="1200"/>
              </a:spcAft>
              <a:buNone/>
            </a:pPr>
            <a:r>
              <a:rPr lang="en-US" sz="1800" b="1" dirty="0">
                <a:solidFill>
                  <a:srgbClr val="111827"/>
                </a:solidFill>
                <a:latin typeface="Arial" pitchFamily="34" charset="0"/>
                <a:ea typeface="Arial" pitchFamily="34" charset="-122"/>
                <a:cs typeface="Arial" pitchFamily="34" charset="-120"/>
              </a:rPr>
              <a:t>"Bike #3 is repaired"</a:t>
            </a:r>
            <a:endParaRPr lang="en-US" sz="1800" dirty="0"/>
          </a:p>
          <a:p>
            <a:pPr indent="0" marL="0">
              <a:lnSpc>
                <a:spcPct val="130000"/>
              </a:lnSpc>
              <a:spcAft>
                <a:spcPts val="2400"/>
              </a:spcAft>
              <a:buNone/>
            </a:pPr>
            <a:r>
              <a:rPr lang="en-US" sz="1800" dirty="0">
                <a:solidFill>
                  <a:srgbClr val="1F2937"/>
                </a:solidFill>
                <a:latin typeface="Arial" pitchFamily="34" charset="0"/>
                <a:ea typeface="Arial" pitchFamily="34" charset="-122"/>
                <a:cs typeface="Arial" pitchFamily="34" charset="-120"/>
              </a:rPr>
              <a:t>→  The AI agrees… and the database doesn't change. 🤔</a:t>
            </a:r>
            <a:endParaRPr lang="en-US" sz="1800" dirty="0"/>
          </a:p>
          <a:p>
            <a:pPr indent="0" marL="0">
              <a:lnSpc>
                <a:spcPct val="130000"/>
              </a:lnSpc>
              <a:buNone/>
            </a:pPr>
            <a:r>
              <a:rPr lang="en-US" sz="2400" b="1" dirty="0">
                <a:solidFill>
                  <a:srgbClr val="16A34A"/>
                </a:solidFill>
                <a:latin typeface="Arial" pitchFamily="34" charset="0"/>
                <a:ea typeface="Arial" pitchFamily="34" charset="-122"/>
                <a:cs typeface="Arial" pitchFamily="34" charset="-120"/>
              </a:rPr>
              <a:t>Text is not action. </a:t>
            </a:r>
            <a:pPr indent="0" marL="0">
              <a:lnSpc>
                <a:spcPct val="130000"/>
              </a:lnSpc>
              <a:buNone/>
            </a:pPr>
            <a:r>
              <a:rPr lang="en-US" sz="2400" dirty="0">
                <a:solidFill>
                  <a:srgbClr val="111827"/>
                </a:solidFill>
                <a:latin typeface="Arial" pitchFamily="34" charset="0"/>
                <a:ea typeface="Arial" pitchFamily="34" charset="-122"/>
                <a:cs typeface="Arial" pitchFamily="34" charset="-120"/>
              </a:rPr>
              <a:t>It needs a WRITE tool.</a:t>
            </a:r>
            <a:endParaRPr lang="en-US" sz="1800" dirty="0"/>
          </a:p>
        </p:txBody>
      </p:sp>
      <p:sp>
        <p:nvSpPr>
          <p:cNvPr id="6" name="Text 4"/>
          <p:cNvSpPr/>
          <p:nvPr/>
        </p:nvSpPr>
        <p:spPr>
          <a:xfrm>
            <a:off x="457200" y="5897880"/>
            <a:ext cx="11274552" cy="365760"/>
          </a:xfrm>
          <a:prstGeom prst="rect">
            <a:avLst/>
          </a:prstGeom>
          <a:noFill/>
          <a:ln/>
        </p:spPr>
        <p:txBody>
          <a:bodyPr wrap="square" rtlCol="0" anchor="ctr"/>
          <a:lstStyle/>
          <a:p>
            <a:pPr indent="0" marL="0">
              <a:buNone/>
            </a:pPr>
            <a:r>
              <a:rPr lang="en-US" sz="1200" i="1" dirty="0">
                <a:solidFill>
                  <a:srgbClr val="4B5563"/>
                </a:solidFill>
                <a:latin typeface="Arial" pitchFamily="34" charset="0"/>
                <a:ea typeface="Arial" pitchFamily="34" charset="-122"/>
                <a:cs typeface="Arial" pitchFamily="34" charset="-120"/>
              </a:rPr>
              <a:t>Guided tutorial: </a:t>
            </a:r>
            <a:pPr indent="0" marL="0">
              <a:buNone/>
            </a:pPr>
            <a:r>
              <a:rPr lang="en-US" sz="1200" i="1" dirty="0">
                <a:solidFill>
                  <a:srgbClr val="16A34A"/>
                </a:solidFill>
                <a:latin typeface="Courier New" pitchFamily="34" charset="0"/>
                <a:ea typeface="Courier New" pitchFamily="34" charset="-122"/>
                <a:cs typeface="Courier New" pitchFamily="34" charset="-120"/>
              </a:rPr>
              <a:t>/module-3</a:t>
            </a:r>
            <a:endParaRPr lang="en-US" sz="12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Custom tools anatomy</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280160"/>
            <a:ext cx="11274552" cy="457200"/>
          </a:xfrm>
          <a:prstGeom prst="rect">
            <a:avLst/>
          </a:prstGeom>
          <a:noFill/>
          <a:ln/>
        </p:spPr>
        <p:txBody>
          <a:bodyPr wrap="square" rtlCol="0" anchor="ctr"/>
          <a:lstStyle/>
          <a:p>
            <a:pPr indent="0" marL="0">
              <a:buNone/>
            </a:pPr>
            <a:r>
              <a:rPr lang="en-US" sz="1600" dirty="0">
                <a:solidFill>
                  <a:srgbClr val="1F2937"/>
                </a:solidFill>
                <a:latin typeface="Courier New" pitchFamily="34" charset="0"/>
                <a:ea typeface="Courier New" pitchFamily="34" charset="-122"/>
                <a:cs typeface="Courier New" pitchFamily="34" charset="-120"/>
              </a:rPr>
              <a:t>.opencode/tools/fleet.ts</a:t>
            </a:r>
            <a:endParaRPr lang="en-US" sz="1600" dirty="0"/>
          </a:p>
        </p:txBody>
      </p:sp>
      <p:sp>
        <p:nvSpPr>
          <p:cNvPr id="6" name="Shape 4"/>
          <p:cNvSpPr/>
          <p:nvPr/>
        </p:nvSpPr>
        <p:spPr>
          <a:xfrm>
            <a:off x="457200" y="1828800"/>
            <a:ext cx="11274552" cy="1280160"/>
          </a:xfrm>
          <a:prstGeom prst="roundRect">
            <a:avLst>
              <a:gd name="adj" fmla="val 7143"/>
            </a:avLst>
          </a:prstGeom>
          <a:solidFill>
            <a:srgbClr val="F9FAFB"/>
          </a:solidFill>
          <a:ln w="6350">
            <a:solidFill>
              <a:srgbClr val="9CA3AF"/>
            </a:solidFill>
            <a:prstDash val="solid"/>
          </a:ln>
        </p:spPr>
      </p:sp>
      <p:sp>
        <p:nvSpPr>
          <p:cNvPr id="7" name="Text 5"/>
          <p:cNvSpPr/>
          <p:nvPr/>
        </p:nvSpPr>
        <p:spPr>
          <a:xfrm>
            <a:off x="685800" y="1920240"/>
            <a:ext cx="10817352" cy="1097280"/>
          </a:xfrm>
          <a:prstGeom prst="rect">
            <a:avLst/>
          </a:prstGeom>
          <a:noFill/>
          <a:ln/>
        </p:spPr>
        <p:txBody>
          <a:bodyPr wrap="square" rtlCol="0" anchor="ctr"/>
          <a:lstStyle/>
          <a:p>
            <a:pPr algn="l" indent="0" marL="0">
              <a:lnSpc>
                <a:spcPct val="115000"/>
              </a:lnSpc>
              <a:buNone/>
            </a:pPr>
            <a:r>
              <a:rPr lang="en-US" sz="1300" dirty="0">
                <a:solidFill>
                  <a:srgbClr val="1F2937"/>
                </a:solidFill>
                <a:latin typeface="Courier New" pitchFamily="34" charset="0"/>
                <a:ea typeface="Courier New" pitchFamily="34" charset="-122"/>
                <a:cs typeface="Courier New" pitchFamily="34" charset="-120"/>
              </a:rPr>
              <a:t>export const mark_bike_fixed = tool({ description, args, execute })</a:t>
            </a:r>
            <a:endParaRPr lang="en-US" sz="1300" dirty="0"/>
          </a:p>
          <a:p>
            <a:pPr algn="l" indent="0" marL="0">
              <a:lnSpc>
                <a:spcPct val="115000"/>
              </a:lnSpc>
              <a:buNone/>
            </a:pPr>
            <a:r>
              <a:rPr lang="en-US" sz="1300" dirty="0">
                <a:solidFill>
                  <a:srgbClr val="1F2937"/>
                </a:solidFill>
                <a:latin typeface="Courier New" pitchFamily="34" charset="0"/>
                <a:ea typeface="Courier New" pitchFamily="34" charset="-122"/>
                <a:cs typeface="Courier New" pitchFamily="34" charset="-120"/>
              </a:rPr>
              <a:t>//  → tool name: fleet_mark_bike_fixed</a:t>
            </a:r>
            <a:endParaRPr lang="en-US" sz="1300" dirty="0"/>
          </a:p>
        </p:txBody>
      </p:sp>
      <p:sp>
        <p:nvSpPr>
          <p:cNvPr id="8" name="Text 6"/>
          <p:cNvSpPr/>
          <p:nvPr/>
        </p:nvSpPr>
        <p:spPr>
          <a:xfrm>
            <a:off x="457200" y="3474720"/>
            <a:ext cx="11274552" cy="2377440"/>
          </a:xfrm>
          <a:prstGeom prst="rect">
            <a:avLst/>
          </a:prstGeom>
          <a:noFill/>
          <a:ln/>
        </p:spPr>
        <p:txBody>
          <a:bodyPr wrap="square" rtlCol="0" anchor="t"/>
          <a:lstStyle/>
          <a:p>
            <a:pPr marL="342900" indent="-342900">
              <a:lnSpc>
                <a:spcPct val="135000"/>
              </a:lnSpc>
              <a:spcAft>
                <a:spcPts val="800"/>
              </a:spcAft>
              <a:buSzPct val="100000"/>
              <a:buChar char="•"/>
            </a:pPr>
            <a:r>
              <a:rPr lang="en-US" sz="1500" dirty="0">
                <a:solidFill>
                  <a:srgbClr val="1F2937"/>
                </a:solidFill>
                <a:latin typeface="Courier New" pitchFamily="34" charset="0"/>
                <a:ea typeface="Courier New" pitchFamily="34" charset="-122"/>
                <a:cs typeface="Courier New" pitchFamily="34" charset="-120"/>
              </a:rPr>
              <a:t>description</a:t>
            </a:r>
            <a:endParaRPr lang="en-US" sz="1500" dirty="0"/>
          </a:p>
          <a:p>
            <a:pPr marL="342900" indent="-342900">
              <a:lnSpc>
                <a:spcPct val="135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 + Zod </a:t>
            </a:r>
            <a:endParaRPr lang="en-US" sz="1500" dirty="0"/>
          </a:p>
          <a:p>
            <a:pPr marL="342900" indent="-342900">
              <a:lnSpc>
                <a:spcPct val="135000"/>
              </a:lnSpc>
              <a:spcAft>
                <a:spcPts val="800"/>
              </a:spcAft>
              <a:buSzPct val="100000"/>
              <a:buChar char="•"/>
            </a:pPr>
            <a:r>
              <a:rPr lang="en-US" sz="1500" dirty="0">
                <a:solidFill>
                  <a:srgbClr val="1F2937"/>
                </a:solidFill>
                <a:latin typeface="Courier New" pitchFamily="34" charset="0"/>
                <a:ea typeface="Courier New" pitchFamily="34" charset="-122"/>
                <a:cs typeface="Courier New" pitchFamily="34" charset="-120"/>
              </a:rPr>
              <a:t>args</a:t>
            </a:r>
            <a:endParaRPr lang="en-US" sz="1500" dirty="0"/>
          </a:p>
          <a:p>
            <a:pPr marL="342900" indent="-342900">
              <a:lnSpc>
                <a:spcPct val="135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 schema = the contract the model sees</a:t>
            </a:r>
            <a:endParaRPr lang="en-US" sz="1500" dirty="0"/>
          </a:p>
          <a:p>
            <a:pPr marL="342900" indent="-342900">
              <a:lnSpc>
                <a:spcPct val="135000"/>
              </a:lnSpc>
              <a:spcAft>
                <a:spcPts val="800"/>
              </a:spcAft>
              <a:buSzPct val="100000"/>
              <a:buChar char="•"/>
            </a:pPr>
            <a:r>
              <a:rPr lang="en-US" sz="1500" dirty="0">
                <a:solidFill>
                  <a:srgbClr val="1F2937"/>
                </a:solidFill>
                <a:latin typeface="Courier New" pitchFamily="34" charset="0"/>
                <a:ea typeface="Courier New" pitchFamily="34" charset="-122"/>
                <a:cs typeface="Courier New" pitchFamily="34" charset="-120"/>
              </a:rPr>
              <a:t>execute()</a:t>
            </a:r>
            <a:endParaRPr lang="en-US" sz="1500" dirty="0"/>
          </a:p>
          <a:p>
            <a:pPr marL="342900" indent="-342900">
              <a:lnSpc>
                <a:spcPct val="135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 = YOUR code, real SQLite (</a:t>
            </a:r>
            <a:endParaRPr lang="en-US" sz="1500" dirty="0"/>
          </a:p>
          <a:p>
            <a:pPr marL="342900" indent="-342900">
              <a:lnSpc>
                <a:spcPct val="135000"/>
              </a:lnSpc>
              <a:spcAft>
                <a:spcPts val="800"/>
              </a:spcAft>
              <a:buSzPct val="100000"/>
              <a:buChar char="•"/>
            </a:pPr>
            <a:r>
              <a:rPr lang="en-US" sz="1500" dirty="0">
                <a:solidFill>
                  <a:srgbClr val="1F2937"/>
                </a:solidFill>
                <a:latin typeface="Courier New" pitchFamily="34" charset="0"/>
                <a:ea typeface="Courier New" pitchFamily="34" charset="-122"/>
                <a:cs typeface="Courier New" pitchFamily="34" charset="-120"/>
              </a:rPr>
              <a:t>bun:sqlite</a:t>
            </a:r>
            <a:endParaRPr lang="en-US" sz="1500" dirty="0"/>
          </a:p>
          <a:p>
            <a:pPr marL="342900" indent="-342900">
              <a:lnSpc>
                <a:spcPct val="135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a:t>
            </a:r>
            <a:pPr indent="0" marL="0">
              <a:lnSpc>
                <a:spcPct val="135000"/>
              </a:lnSpc>
              <a:buNone/>
            </a:pPr>
            <a:r>
              <a:rPr lang="en-US" sz="1700" b="1" dirty="0">
                <a:solidFill>
                  <a:srgbClr val="16A34A"/>
                </a:solidFill>
                <a:latin typeface="Arial" pitchFamily="34" charset="0"/>
                <a:ea typeface="Arial" pitchFamily="34" charset="-122"/>
                <a:cs typeface="Arial" pitchFamily="34" charset="-120"/>
              </a:rPr>
              <a:t>The model proposes; your code disposes.</a:t>
            </a:r>
            <a:endParaRPr lang="en-US" sz="15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Build it (Module 3)</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463040"/>
            <a:ext cx="11274552" cy="4389120"/>
          </a:xfrm>
          <a:prstGeom prst="rect">
            <a:avLst/>
          </a:prstGeom>
          <a:noFill/>
          <a:ln/>
        </p:spPr>
        <p:txBody>
          <a:bodyPr wrap="square" rtlCol="0" anchor="t"/>
          <a:lstStyle/>
          <a:p>
            <a:pPr indent="0" marL="0">
              <a:lnSpc>
                <a:spcPct val="130000"/>
              </a:lnSpc>
              <a:spcAft>
                <a:spcPts val="1400"/>
              </a:spcAft>
              <a:buNone/>
            </a:pPr>
            <a:r>
              <a:rPr lang="en-US" sz="1700" b="1" dirty="0">
                <a:solidFill>
                  <a:srgbClr val="16A34A"/>
                </a:solidFill>
                <a:latin typeface="Courier New" pitchFamily="34" charset="0"/>
                <a:ea typeface="Courier New" pitchFamily="34" charset="-122"/>
                <a:cs typeface="Courier New" pitchFamily="34" charset="-120"/>
              </a:rPr>
              <a:t>TODO (Module 3)</a:t>
            </a:r>
            <a:pPr indent="0" marL="0">
              <a:lnSpc>
                <a:spcPct val="130000"/>
              </a:lnSpc>
              <a:spcAft>
                <a:spcPts val="1400"/>
              </a:spcAft>
              <a:buNone/>
            </a:pPr>
            <a:r>
              <a:rPr lang="en-US" sz="1700" dirty="0">
                <a:solidFill>
                  <a:srgbClr val="1F2937"/>
                </a:solidFill>
                <a:latin typeface="Arial" pitchFamily="34" charset="0"/>
                <a:ea typeface="Arial" pitchFamily="34" charset="-122"/>
                <a:cs typeface="Arial" pitchFamily="34" charset="-120"/>
              </a:rPr>
              <a:t>  in </a:t>
            </a:r>
            <a:pPr indent="0" marL="0">
              <a:lnSpc>
                <a:spcPct val="130000"/>
              </a:lnSpc>
              <a:spcAft>
                <a:spcPts val="1400"/>
              </a:spcAft>
              <a:buNone/>
            </a:pPr>
            <a:r>
              <a:rPr lang="en-US" sz="1700" dirty="0">
                <a:solidFill>
                  <a:srgbClr val="1F2937"/>
                </a:solidFill>
                <a:latin typeface="Courier New" pitchFamily="34" charset="0"/>
                <a:ea typeface="Courier New" pitchFamily="34" charset="-122"/>
                <a:cs typeface="Courier New" pitchFamily="34" charset="-120"/>
              </a:rPr>
              <a:t>fleet.ts</a:t>
            </a:r>
            <a:pPr indent="0" marL="0">
              <a:lnSpc>
                <a:spcPct val="130000"/>
              </a:lnSpc>
              <a:spcAft>
                <a:spcPts val="1400"/>
              </a:spcAft>
              <a:buNone/>
            </a:pPr>
            <a:r>
              <a:rPr lang="en-US" sz="1700" dirty="0">
                <a:solidFill>
                  <a:srgbClr val="1F2937"/>
                </a:solidFill>
                <a:latin typeface="Arial" pitchFamily="34" charset="0"/>
                <a:ea typeface="Arial" pitchFamily="34" charset="-122"/>
                <a:cs typeface="Arial" pitchFamily="34" charset="-120"/>
              </a:rPr>
              <a:t>:</a:t>
            </a:r>
            <a:endParaRPr lang="en-US" sz="1700" dirty="0"/>
          </a:p>
          <a:p>
            <a:pPr indent="0" marL="0">
              <a:lnSpc>
                <a:spcPct val="130000"/>
              </a:lnSpc>
              <a:spcAft>
                <a:spcPts val="1200"/>
              </a:spcAft>
              <a:buNone/>
            </a:pPr>
            <a:r>
              <a:rPr lang="en-US" sz="1600" b="1" dirty="0">
                <a:solidFill>
                  <a:srgbClr val="16A34A"/>
                </a:solidFill>
                <a:latin typeface="Arial" pitchFamily="34" charset="0"/>
                <a:ea typeface="Arial" pitchFamily="34" charset="-122"/>
                <a:cs typeface="Arial" pitchFamily="34" charset="-120"/>
              </a:rPr>
              <a:t>1.  </a:t>
            </a:r>
            <a:pPr indent="0" marL="0">
              <a:lnSpc>
                <a:spcPct val="130000"/>
              </a:lnSpc>
              <a:spcAft>
                <a:spcPts val="1200"/>
              </a:spcAft>
              <a:buNone/>
            </a:pPr>
            <a:r>
              <a:rPr lang="en-US" sz="1600" dirty="0">
                <a:solidFill>
                  <a:srgbClr val="1F2937"/>
                </a:solidFill>
                <a:latin typeface="Courier New" pitchFamily="34" charset="0"/>
                <a:ea typeface="Courier New" pitchFamily="34" charset="-122"/>
                <a:cs typeface="Courier New" pitchFamily="34" charset="-120"/>
              </a:rPr>
              <a:t>assign_mechanic</a:t>
            </a:r>
            <a:pPr indent="0" marL="0">
              <a:lnSpc>
                <a:spcPct val="130000"/>
              </a:lnSpc>
              <a:spcAft>
                <a:spcPts val="1200"/>
              </a:spcAft>
              <a:buNone/>
            </a:pPr>
            <a:r>
              <a:rPr lang="en-US" sz="1600" dirty="0">
                <a:solidFill>
                  <a:srgbClr val="1F2937"/>
                </a:solidFill>
                <a:latin typeface="Arial" pitchFamily="34" charset="0"/>
                <a:ea typeface="Arial" pitchFamily="34" charset="-122"/>
                <a:cs typeface="Arial" pitchFamily="34" charset="-120"/>
              </a:rPr>
              <a:t> → check the ticket, then </a:t>
            </a:r>
            <a:pPr indent="0" marL="0">
              <a:lnSpc>
                <a:spcPct val="130000"/>
              </a:lnSpc>
              <a:spcAft>
                <a:spcPts val="1200"/>
              </a:spcAft>
              <a:buNone/>
            </a:pPr>
            <a:r>
              <a:rPr lang="en-US" sz="1600" dirty="0">
                <a:solidFill>
                  <a:srgbClr val="1F2937"/>
                </a:solidFill>
                <a:latin typeface="Courier New" pitchFamily="34" charset="0"/>
                <a:ea typeface="Courier New" pitchFamily="34" charset="-122"/>
                <a:cs typeface="Courier New" pitchFamily="34" charset="-120"/>
              </a:rPr>
              <a:t>UPDATE tickets SET mechanic, status='assigned'</a:t>
            </a:r>
            <a:endParaRPr lang="en-US" sz="1700" dirty="0"/>
          </a:p>
          <a:p>
            <a:pPr indent="0" marL="0">
              <a:lnSpc>
                <a:spcPct val="130000"/>
              </a:lnSpc>
              <a:spcAft>
                <a:spcPts val="2000"/>
              </a:spcAft>
              <a:buNone/>
            </a:pPr>
            <a:r>
              <a:rPr lang="en-US" sz="1600" b="1" dirty="0">
                <a:solidFill>
                  <a:srgbClr val="16A34A"/>
                </a:solidFill>
                <a:latin typeface="Arial" pitchFamily="34" charset="0"/>
                <a:ea typeface="Arial" pitchFamily="34" charset="-122"/>
                <a:cs typeface="Arial" pitchFamily="34" charset="-120"/>
              </a:rPr>
              <a:t>2.  </a:t>
            </a:r>
            <a:pPr indent="0" marL="0">
              <a:lnSpc>
                <a:spcPct val="130000"/>
              </a:lnSpc>
              <a:spcAft>
                <a:spcPts val="2000"/>
              </a:spcAft>
              <a:buNone/>
            </a:pPr>
            <a:r>
              <a:rPr lang="en-US" sz="1600" dirty="0">
                <a:solidFill>
                  <a:srgbClr val="1F2937"/>
                </a:solidFill>
                <a:latin typeface="Courier New" pitchFamily="34" charset="0"/>
                <a:ea typeface="Courier New" pitchFamily="34" charset="-122"/>
                <a:cs typeface="Courier New" pitchFamily="34" charset="-120"/>
              </a:rPr>
              <a:t>mark_bike_fixed</a:t>
            </a:r>
            <a:pPr indent="0" marL="0">
              <a:lnSpc>
                <a:spcPct val="130000"/>
              </a:lnSpc>
              <a:spcAft>
                <a:spcPts val="2000"/>
              </a:spcAft>
              <a:buNone/>
            </a:pPr>
            <a:r>
              <a:rPr lang="en-US" sz="1600" dirty="0">
                <a:solidFill>
                  <a:srgbClr val="1F2937"/>
                </a:solidFill>
                <a:latin typeface="Arial" pitchFamily="34" charset="0"/>
                <a:ea typeface="Arial" pitchFamily="34" charset="-122"/>
                <a:cs typeface="Arial" pitchFamily="34" charset="-120"/>
              </a:rPr>
              <a:t> → </a:t>
            </a:r>
            <a:pPr indent="0" marL="0">
              <a:lnSpc>
                <a:spcPct val="130000"/>
              </a:lnSpc>
              <a:spcAft>
                <a:spcPts val="2000"/>
              </a:spcAft>
              <a:buNone/>
            </a:pPr>
            <a:r>
              <a:rPr lang="en-US" sz="1600" dirty="0">
                <a:solidFill>
                  <a:srgbClr val="1F2937"/>
                </a:solidFill>
                <a:latin typeface="Courier New" pitchFamily="34" charset="0"/>
                <a:ea typeface="Courier New" pitchFamily="34" charset="-122"/>
                <a:cs typeface="Courier New" pitchFamily="34" charset="-120"/>
              </a:rPr>
              <a:t>UPDATE bikes → 'ok'</a:t>
            </a:r>
            <a:pPr indent="0" marL="0">
              <a:lnSpc>
                <a:spcPct val="130000"/>
              </a:lnSpc>
              <a:spcAft>
                <a:spcPts val="2000"/>
              </a:spcAft>
              <a:buNone/>
            </a:pPr>
            <a:r>
              <a:rPr lang="en-US" sz="1600" dirty="0">
                <a:solidFill>
                  <a:srgbClr val="1F2937"/>
                </a:solidFill>
                <a:latin typeface="Arial" pitchFamily="34" charset="0"/>
                <a:ea typeface="Arial" pitchFamily="34" charset="-122"/>
                <a:cs typeface="Arial" pitchFamily="34" charset="-120"/>
              </a:rPr>
              <a:t> + close its open/assigned tickets</a:t>
            </a:r>
            <a:endParaRPr lang="en-US" sz="1700" dirty="0"/>
          </a:p>
          <a:p>
            <a:pPr indent="0" marL="0">
              <a:lnSpc>
                <a:spcPct val="130000"/>
              </a:lnSpc>
              <a:buNone/>
            </a:pPr>
            <a:r>
              <a:rPr lang="en-US" sz="1600" b="1" dirty="0">
                <a:solidFill>
                  <a:srgbClr val="111827"/>
                </a:solidFill>
                <a:latin typeface="Arial" pitchFamily="34" charset="0"/>
                <a:ea typeface="Arial" pitchFamily="34" charset="-122"/>
                <a:cs typeface="Arial" pitchFamily="34" charset="-120"/>
              </a:rPr>
              <a:t>Test:  </a:t>
            </a:r>
            <a:pPr indent="0" marL="0">
              <a:lnSpc>
                <a:spcPct val="130000"/>
              </a:lnSpc>
              <a:buNone/>
            </a:pPr>
            <a:r>
              <a:rPr lang="en-US" sz="1600" dirty="0">
                <a:solidFill>
                  <a:srgbClr val="1F2937"/>
                </a:solidFill>
                <a:latin typeface="Courier New" pitchFamily="34" charset="0"/>
                <a:ea typeface="Courier New" pitchFamily="34" charset="-122"/>
                <a:cs typeface="Courier New" pitchFamily="34" charset="-120"/>
              </a:rPr>
              <a:t>Bike #3 is repaired. Use the fleet tools.</a:t>
            </a:r>
            <a:pPr indent="0" marL="0">
              <a:lnSpc>
                <a:spcPct val="130000"/>
              </a:lnSpc>
              <a:buNone/>
            </a:pPr>
            <a:r>
              <a:rPr lang="en-US" sz="1600" dirty="0">
                <a:solidFill>
                  <a:srgbClr val="1F2937"/>
                </a:solidFill>
                <a:latin typeface="Arial" pitchFamily="34" charset="0"/>
                <a:ea typeface="Arial" pitchFamily="34" charset="-122"/>
                <a:cs typeface="Arial" pitchFamily="34" charset="-120"/>
              </a:rPr>
              <a:t>  →  </a:t>
            </a:r>
            <a:pPr indent="0" marL="0">
              <a:lnSpc>
                <a:spcPct val="130000"/>
              </a:lnSpc>
              <a:buNone/>
            </a:pPr>
            <a:r>
              <a:rPr lang="en-US" sz="1600" b="1" dirty="0">
                <a:solidFill>
                  <a:srgbClr val="16A34A"/>
                </a:solidFill>
                <a:latin typeface="Arial" pitchFamily="34" charset="0"/>
                <a:ea typeface="Arial" pitchFamily="34" charset="-122"/>
                <a:cs typeface="Arial" pitchFamily="34" charset="-120"/>
              </a:rPr>
              <a:t>check the DB</a:t>
            </a:r>
            <a:endParaRPr lang="en-US" sz="17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Chatbot vs agent</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280160"/>
            <a:ext cx="5394960" cy="457200"/>
          </a:xfrm>
          <a:prstGeom prst="rect">
            <a:avLst/>
          </a:prstGeom>
          <a:noFill/>
          <a:ln/>
        </p:spPr>
        <p:txBody>
          <a:bodyPr wrap="square" rtlCol="0" anchor="ctr"/>
          <a:lstStyle/>
          <a:p>
            <a:pPr indent="0" marL="0">
              <a:buNone/>
            </a:pPr>
            <a:r>
              <a:rPr lang="en-US" sz="2000" b="1" dirty="0">
                <a:solidFill>
                  <a:srgbClr val="4B5563"/>
                </a:solidFill>
                <a:latin typeface="Arial" pitchFamily="34" charset="0"/>
                <a:ea typeface="Arial" pitchFamily="34" charset="-122"/>
                <a:cs typeface="Arial" pitchFamily="34" charset="-120"/>
              </a:rPr>
              <a:t>Chatbot</a:t>
            </a:r>
            <a:endParaRPr lang="en-US" sz="2000" dirty="0"/>
          </a:p>
        </p:txBody>
      </p:sp>
      <p:sp>
        <p:nvSpPr>
          <p:cNvPr id="6" name="Text 4"/>
          <p:cNvSpPr/>
          <p:nvPr/>
        </p:nvSpPr>
        <p:spPr>
          <a:xfrm>
            <a:off x="457200" y="1783080"/>
            <a:ext cx="5394960" cy="457200"/>
          </a:xfrm>
          <a:prstGeom prst="rect">
            <a:avLst/>
          </a:prstGeom>
          <a:noFill/>
          <a:ln/>
        </p:spPr>
        <p:txBody>
          <a:bodyPr wrap="square" rtlCol="0" anchor="ctr"/>
          <a:lstStyle/>
          <a:p>
            <a:pPr indent="0" marL="0">
              <a:buNone/>
            </a:pPr>
            <a:r>
              <a:rPr lang="en-US" sz="1500" dirty="0">
                <a:solidFill>
                  <a:srgbClr val="1F2937"/>
                </a:solidFill>
                <a:latin typeface="Arial" pitchFamily="34" charset="0"/>
                <a:ea typeface="Arial" pitchFamily="34" charset="-122"/>
                <a:cs typeface="Arial" pitchFamily="34" charset="-120"/>
              </a:rPr>
              <a:t>You talk, it answers.</a:t>
            </a:r>
            <a:endParaRPr lang="en-US" sz="1500" dirty="0"/>
          </a:p>
        </p:txBody>
      </p:sp>
      <p:sp>
        <p:nvSpPr>
          <p:cNvPr id="7" name="Text 5"/>
          <p:cNvSpPr/>
          <p:nvPr/>
        </p:nvSpPr>
        <p:spPr>
          <a:xfrm>
            <a:off x="6309360" y="1280160"/>
            <a:ext cx="5394960" cy="457200"/>
          </a:xfrm>
          <a:prstGeom prst="rect">
            <a:avLst/>
          </a:prstGeom>
          <a:noFill/>
          <a:ln/>
        </p:spPr>
        <p:txBody>
          <a:bodyPr wrap="square" rtlCol="0" anchor="ctr"/>
          <a:lstStyle/>
          <a:p>
            <a:pPr indent="0" marL="0">
              <a:buNone/>
            </a:pPr>
            <a:r>
              <a:rPr lang="en-US" sz="2000" b="1" dirty="0">
                <a:solidFill>
                  <a:srgbClr val="16A34A"/>
                </a:solidFill>
                <a:latin typeface="Arial" pitchFamily="34" charset="0"/>
                <a:ea typeface="Arial" pitchFamily="34" charset="-122"/>
                <a:cs typeface="Arial" pitchFamily="34" charset="-120"/>
              </a:rPr>
              <a:t>Agent</a:t>
            </a:r>
            <a:endParaRPr lang="en-US" sz="2000" dirty="0"/>
          </a:p>
        </p:txBody>
      </p:sp>
      <p:sp>
        <p:nvSpPr>
          <p:cNvPr id="8" name="Text 6"/>
          <p:cNvSpPr/>
          <p:nvPr/>
        </p:nvSpPr>
        <p:spPr>
          <a:xfrm>
            <a:off x="6309360" y="1783080"/>
            <a:ext cx="5394960" cy="457200"/>
          </a:xfrm>
          <a:prstGeom prst="rect">
            <a:avLst/>
          </a:prstGeom>
          <a:noFill/>
          <a:ln/>
        </p:spPr>
        <p:txBody>
          <a:bodyPr wrap="square" rtlCol="0" anchor="ctr"/>
          <a:lstStyle/>
          <a:p>
            <a:pPr indent="0" marL="0">
              <a:buNone/>
            </a:pPr>
            <a:r>
              <a:rPr lang="en-US" sz="1500" dirty="0">
                <a:solidFill>
                  <a:srgbClr val="1F2937"/>
                </a:solidFill>
                <a:latin typeface="Arial" pitchFamily="34" charset="0"/>
                <a:ea typeface="Arial" pitchFamily="34" charset="-122"/>
                <a:cs typeface="Arial" pitchFamily="34" charset="-120"/>
              </a:rPr>
              <a:t>You give a </a:t>
            </a:r>
            <a:pPr indent="0" marL="0">
              <a:buNone/>
            </a:pPr>
            <a:r>
              <a:rPr lang="en-US" sz="1500" b="1" dirty="0">
                <a:solidFill>
                  <a:srgbClr val="16A34A"/>
                </a:solidFill>
                <a:latin typeface="Arial" pitchFamily="34" charset="0"/>
                <a:ea typeface="Arial" pitchFamily="34" charset="-122"/>
                <a:cs typeface="Arial" pitchFamily="34" charset="-120"/>
              </a:rPr>
              <a:t>GOAL</a:t>
            </a:r>
            <a:pPr indent="0" marL="0">
              <a:buNone/>
            </a:pPr>
            <a:r>
              <a:rPr lang="en-US" sz="1500" dirty="0">
                <a:solidFill>
                  <a:srgbClr val="1F2937"/>
                </a:solidFill>
                <a:latin typeface="Arial" pitchFamily="34" charset="0"/>
                <a:ea typeface="Arial" pitchFamily="34" charset="-122"/>
                <a:cs typeface="Arial" pitchFamily="34" charset="-120"/>
              </a:rPr>
              <a:t>, it works.</a:t>
            </a:r>
            <a:endParaRPr lang="en-US" sz="1500" dirty="0"/>
          </a:p>
        </p:txBody>
      </p:sp>
      <p:sp>
        <p:nvSpPr>
          <p:cNvPr id="9" name="Shape 7"/>
          <p:cNvSpPr/>
          <p:nvPr/>
        </p:nvSpPr>
        <p:spPr>
          <a:xfrm>
            <a:off x="5989320" y="1280160"/>
            <a:ext cx="18288" cy="1097280"/>
          </a:xfrm>
          <a:prstGeom prst="rect">
            <a:avLst/>
          </a:prstGeom>
          <a:solidFill>
            <a:srgbClr val="9CA3AF"/>
          </a:solidFill>
          <a:ln/>
        </p:spPr>
      </p:sp>
      <p:sp>
        <p:nvSpPr>
          <p:cNvPr id="10" name="Shape 8"/>
          <p:cNvSpPr/>
          <p:nvPr/>
        </p:nvSpPr>
        <p:spPr>
          <a:xfrm>
            <a:off x="457200" y="2743200"/>
            <a:ext cx="11274552" cy="1280160"/>
          </a:xfrm>
          <a:prstGeom prst="roundRect">
            <a:avLst>
              <a:gd name="adj" fmla="val 7143"/>
            </a:avLst>
          </a:prstGeom>
          <a:solidFill>
            <a:srgbClr val="F9FAFB"/>
          </a:solidFill>
          <a:ln w="6350">
            <a:solidFill>
              <a:srgbClr val="9CA3AF"/>
            </a:solidFill>
            <a:prstDash val="solid"/>
          </a:ln>
        </p:spPr>
      </p:sp>
      <p:sp>
        <p:nvSpPr>
          <p:cNvPr id="11" name="Text 9"/>
          <p:cNvSpPr/>
          <p:nvPr/>
        </p:nvSpPr>
        <p:spPr>
          <a:xfrm>
            <a:off x="685800" y="2834640"/>
            <a:ext cx="10817352" cy="1097280"/>
          </a:xfrm>
          <a:prstGeom prst="rect">
            <a:avLst/>
          </a:prstGeom>
          <a:noFill/>
          <a:ln/>
        </p:spPr>
        <p:txBody>
          <a:bodyPr wrap="square" rtlCol="0" anchor="ctr"/>
          <a:lstStyle/>
          <a:p>
            <a:pPr algn="l" indent="0" marL="0">
              <a:lnSpc>
                <a:spcPct val="115000"/>
              </a:lnSpc>
              <a:buNone/>
            </a:pPr>
            <a:r>
              <a:rPr lang="en-US" sz="1400" dirty="0">
                <a:solidFill>
                  <a:srgbClr val="1F2937"/>
                </a:solidFill>
                <a:latin typeface="Courier New" pitchFamily="34" charset="0"/>
                <a:ea typeface="Courier New" pitchFamily="34" charset="-122"/>
                <a:cs typeface="Courier New" pitchFamily="34" charset="-120"/>
              </a:rPr>
              <a:t>loop: observe → decide → act → repeat</a:t>
            </a:r>
            <a:endParaRPr lang="en-US" sz="1400" dirty="0"/>
          </a:p>
          <a:p>
            <a:pPr algn="l" indent="0" marL="0">
              <a:lnSpc>
                <a:spcPct val="115000"/>
              </a:lnSpc>
              <a:buNone/>
            </a:pPr>
            <a:r>
              <a:rPr lang="en-US" sz="1400" dirty="0">
                <a:solidFill>
                  <a:srgbClr val="1F2937"/>
                </a:solidFill>
                <a:latin typeface="Courier New" pitchFamily="34" charset="0"/>
                <a:ea typeface="Courier New" pitchFamily="34" charset="-122"/>
                <a:cs typeface="Courier New" pitchFamily="34" charset="-120"/>
              </a:rPr>
              <a:t>      (until done… or out of steps)</a:t>
            </a:r>
            <a:endParaRPr lang="en-US" sz="1400" dirty="0"/>
          </a:p>
        </p:txBody>
      </p:sp>
      <p:sp>
        <p:nvSpPr>
          <p:cNvPr id="12" name="Text 10"/>
          <p:cNvSpPr/>
          <p:nvPr/>
        </p:nvSpPr>
        <p:spPr>
          <a:xfrm>
            <a:off x="457200" y="4389120"/>
            <a:ext cx="11274552" cy="457200"/>
          </a:xfrm>
          <a:prstGeom prst="rect">
            <a:avLst/>
          </a:prstGeom>
          <a:noFill/>
          <a:ln/>
        </p:spPr>
        <p:txBody>
          <a:bodyPr wrap="square" rtlCol="0" anchor="ctr"/>
          <a:lstStyle/>
          <a:p>
            <a:pPr indent="0" marL="0">
              <a:buNone/>
            </a:pPr>
            <a:r>
              <a:rPr lang="en-US" sz="1500" dirty="0">
                <a:solidFill>
                  <a:srgbClr val="1F2937"/>
                </a:solidFill>
                <a:latin typeface="Arial" pitchFamily="34" charset="0"/>
                <a:ea typeface="Arial" pitchFamily="34" charset="-122"/>
                <a:cs typeface="Arial" pitchFamily="34" charset="-120"/>
              </a:rPr>
              <a:t>Your only input:  </a:t>
            </a:r>
            <a:pPr indent="0" marL="0">
              <a:buNone/>
            </a:pPr>
            <a:r>
              <a:rPr lang="en-US" sz="1500" b="1" i="1" dirty="0">
                <a:solidFill>
                  <a:srgbClr val="111827"/>
                </a:solidFill>
                <a:latin typeface="Arial" pitchFamily="34" charset="0"/>
                <a:ea typeface="Arial" pitchFamily="34" charset="-122"/>
                <a:cs typeface="Arial" pitchFamily="34" charset="-120"/>
              </a:rPr>
              <a:t>"Resolve all pending maintenance tickets"</a:t>
            </a:r>
            <a:endParaRPr lang="en-US" sz="1500" dirty="0"/>
          </a:p>
        </p:txBody>
      </p:sp>
      <p:sp>
        <p:nvSpPr>
          <p:cNvPr id="13" name="Text 11"/>
          <p:cNvSpPr/>
          <p:nvPr/>
        </p:nvSpPr>
        <p:spPr>
          <a:xfrm>
            <a:off x="457200" y="5897880"/>
            <a:ext cx="11274552" cy="365760"/>
          </a:xfrm>
          <a:prstGeom prst="rect">
            <a:avLst/>
          </a:prstGeom>
          <a:noFill/>
          <a:ln/>
        </p:spPr>
        <p:txBody>
          <a:bodyPr wrap="square" rtlCol="0" anchor="ctr"/>
          <a:lstStyle/>
          <a:p>
            <a:pPr indent="0" marL="0">
              <a:buNone/>
            </a:pPr>
            <a:r>
              <a:rPr lang="en-US" sz="1200" i="1" dirty="0">
                <a:solidFill>
                  <a:srgbClr val="4B5563"/>
                </a:solidFill>
                <a:latin typeface="Arial" pitchFamily="34" charset="0"/>
                <a:ea typeface="Arial" pitchFamily="34" charset="-122"/>
                <a:cs typeface="Arial" pitchFamily="34" charset="-120"/>
              </a:rPr>
              <a:t>Guided tutorial: </a:t>
            </a:r>
            <a:pPr indent="0" marL="0">
              <a:buNone/>
            </a:pPr>
            <a:r>
              <a:rPr lang="en-US" sz="1200" i="1" dirty="0">
                <a:solidFill>
                  <a:srgbClr val="16A34A"/>
                </a:solidFill>
                <a:latin typeface="Courier New" pitchFamily="34" charset="0"/>
                <a:ea typeface="Courier New" pitchFamily="34" charset="-122"/>
                <a:cs typeface="Courier New" pitchFamily="34" charset="-120"/>
              </a:rPr>
              <a:t>/module-4</a:t>
            </a:r>
            <a:endParaRPr lang="en-US" sz="12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Agent anatomy</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280160"/>
            <a:ext cx="11274552" cy="457200"/>
          </a:xfrm>
          <a:prstGeom prst="rect">
            <a:avLst/>
          </a:prstGeom>
          <a:noFill/>
          <a:ln/>
        </p:spPr>
        <p:txBody>
          <a:bodyPr wrap="square" rtlCol="0" anchor="ctr"/>
          <a:lstStyle/>
          <a:p>
            <a:pPr indent="0" marL="0">
              <a:buNone/>
            </a:pPr>
            <a:r>
              <a:rPr lang="en-US" sz="1600" dirty="0">
                <a:solidFill>
                  <a:srgbClr val="1F2937"/>
                </a:solidFill>
                <a:latin typeface="Courier New" pitchFamily="34" charset="0"/>
                <a:ea typeface="Courier New" pitchFamily="34" charset="-122"/>
                <a:cs typeface="Courier New" pitchFamily="34" charset="-120"/>
              </a:rPr>
              <a:t>.opencode/agents/fleet-manager.md</a:t>
            </a:r>
            <a:pPr indent="0" marL="0">
              <a:buNone/>
            </a:pPr>
            <a:r>
              <a:rPr lang="en-US" sz="1600" dirty="0">
                <a:solidFill>
                  <a:srgbClr val="1F2937"/>
                </a:solidFill>
                <a:latin typeface="Arial" pitchFamily="34" charset="0"/>
                <a:ea typeface="Arial" pitchFamily="34" charset="-122"/>
                <a:cs typeface="Arial" pitchFamily="34" charset="-120"/>
              </a:rPr>
              <a:t>  —  </a:t>
            </a:r>
            <a:pPr indent="0" marL="0">
              <a:buNone/>
            </a:pPr>
            <a:r>
              <a:rPr lang="en-US" sz="1600" b="1" dirty="0">
                <a:solidFill>
                  <a:srgbClr val="16A34A"/>
                </a:solidFill>
                <a:latin typeface="Courier New" pitchFamily="34" charset="0"/>
                <a:ea typeface="Courier New" pitchFamily="34" charset="-122"/>
                <a:cs typeface="Courier New" pitchFamily="34" charset="-120"/>
              </a:rPr>
              <a:t>TODO (Module 4)</a:t>
            </a:r>
            <a:endParaRPr lang="en-US" sz="1600" dirty="0"/>
          </a:p>
        </p:txBody>
      </p:sp>
      <p:sp>
        <p:nvSpPr>
          <p:cNvPr id="6" name="Text 4"/>
          <p:cNvSpPr/>
          <p:nvPr/>
        </p:nvSpPr>
        <p:spPr>
          <a:xfrm>
            <a:off x="457200" y="1920240"/>
            <a:ext cx="11274552" cy="3657600"/>
          </a:xfrm>
          <a:prstGeom prst="rect">
            <a:avLst/>
          </a:prstGeom>
          <a:noFill/>
          <a:ln/>
        </p:spPr>
        <p:txBody>
          <a:bodyPr wrap="square" rtlCol="0" anchor="t"/>
          <a:lstStyle/>
          <a:p>
            <a:pPr marL="342900" indent="-342900">
              <a:lnSpc>
                <a:spcPct val="140000"/>
              </a:lnSpc>
              <a:spcAft>
                <a:spcPts val="800"/>
              </a:spcAft>
              <a:buSzPct val="100000"/>
              <a:buChar char="•"/>
            </a:pPr>
            <a:r>
              <a:rPr lang="en-US" sz="1500" dirty="0">
                <a:solidFill>
                  <a:srgbClr val="1F2937"/>
                </a:solidFill>
                <a:latin typeface="Courier New" pitchFamily="34" charset="0"/>
                <a:ea typeface="Courier New" pitchFamily="34" charset="-122"/>
                <a:cs typeface="Courier New" pitchFamily="34" charset="-120"/>
              </a:rPr>
              <a:t>description</a:t>
            </a:r>
            <a:endParaRPr lang="en-US" sz="1500" dirty="0"/>
          </a:p>
          <a:p>
            <a:pPr marL="342900" indent="-342900">
              <a:lnSpc>
                <a:spcPct val="140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 + </a:t>
            </a:r>
            <a:endParaRPr lang="en-US" sz="1500" dirty="0"/>
          </a:p>
          <a:p>
            <a:pPr marL="342900" indent="-342900">
              <a:lnSpc>
                <a:spcPct val="140000"/>
              </a:lnSpc>
              <a:spcAft>
                <a:spcPts val="800"/>
              </a:spcAft>
              <a:buSzPct val="100000"/>
              <a:buChar char="•"/>
            </a:pPr>
            <a:r>
              <a:rPr lang="en-US" sz="1500" dirty="0">
                <a:solidFill>
                  <a:srgbClr val="1F2937"/>
                </a:solidFill>
                <a:latin typeface="Courier New" pitchFamily="34" charset="0"/>
                <a:ea typeface="Courier New" pitchFamily="34" charset="-122"/>
                <a:cs typeface="Courier New" pitchFamily="34" charset="-120"/>
              </a:rPr>
              <a:t>mode: primary</a:t>
            </a:r>
            <a:endParaRPr lang="en-US" sz="1500" dirty="0"/>
          </a:p>
          <a:p>
            <a:pPr marL="342900" indent="-342900">
              <a:lnSpc>
                <a:spcPct val="140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 → shows up in the agent selector</a:t>
            </a:r>
            <a:endParaRPr lang="en-US" sz="1500" dirty="0"/>
          </a:p>
          <a:p>
            <a:pPr marL="342900" indent="-342900">
              <a:lnSpc>
                <a:spcPct val="140000"/>
              </a:lnSpc>
              <a:spcAft>
                <a:spcPts val="800"/>
              </a:spcAft>
              <a:buSzPct val="100000"/>
              <a:buChar char="•"/>
            </a:pPr>
            <a:r>
              <a:rPr lang="en-US" sz="1500" b="1" dirty="0">
                <a:solidFill>
                  <a:srgbClr val="16A34A"/>
                </a:solidFill>
                <a:latin typeface="Courier New" pitchFamily="34" charset="0"/>
                <a:ea typeface="Courier New" pitchFamily="34" charset="-122"/>
                <a:cs typeface="Courier New" pitchFamily="34" charset="-120"/>
              </a:rPr>
              <a:t>steps: 20</a:t>
            </a:r>
            <a:endParaRPr lang="en-US" sz="1500" dirty="0"/>
          </a:p>
          <a:p>
            <a:pPr marL="342900" indent="-342900">
              <a:lnSpc>
                <a:spcPct val="140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 → the safety fuse</a:t>
            </a:r>
            <a:endParaRPr lang="en-US" sz="1500" dirty="0"/>
          </a:p>
          <a:p>
            <a:pPr marL="342900" indent="-342900">
              <a:lnSpc>
                <a:spcPct val="140000"/>
              </a:lnSpc>
              <a:spcAft>
                <a:spcPts val="800"/>
              </a:spcAft>
              <a:buSzPct val="100000"/>
              <a:buChar char="•"/>
            </a:pPr>
            <a:r>
              <a:rPr lang="en-US" sz="1500" dirty="0">
                <a:solidFill>
                  <a:srgbClr val="1F2937"/>
                </a:solidFill>
                <a:latin typeface="Courier New" pitchFamily="34" charset="0"/>
                <a:ea typeface="Courier New" pitchFamily="34" charset="-122"/>
                <a:cs typeface="Courier New" pitchFamily="34" charset="-120"/>
              </a:rPr>
              <a:t>tools:</a:t>
            </a:r>
            <a:endParaRPr lang="en-US" sz="1500" dirty="0"/>
          </a:p>
          <a:p>
            <a:pPr marL="342900" indent="-342900">
              <a:lnSpc>
                <a:spcPct val="140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 → </a:t>
            </a:r>
            <a:endParaRPr lang="en-US" sz="1500" dirty="0"/>
          </a:p>
          <a:p>
            <a:pPr marL="342900" indent="-342900">
              <a:lnSpc>
                <a:spcPct val="140000"/>
              </a:lnSpc>
              <a:spcAft>
                <a:spcPts val="800"/>
              </a:spcAft>
              <a:buSzPct val="100000"/>
              <a:buChar char="•"/>
            </a:pPr>
            <a:r>
              <a:rPr lang="en-US" sz="1500" dirty="0">
                <a:solidFill>
                  <a:srgbClr val="1F2937"/>
                </a:solidFill>
                <a:latin typeface="Courier New" pitchFamily="34" charset="0"/>
                <a:ea typeface="Courier New" pitchFamily="34" charset="-122"/>
                <a:cs typeface="Courier New" pitchFamily="34" charset="-120"/>
              </a:rPr>
              <a:t>fleet_*: true</a:t>
            </a:r>
            <a:endParaRPr lang="en-US" sz="1500" dirty="0"/>
          </a:p>
          <a:p>
            <a:pPr marL="342900" indent="-342900">
              <a:lnSpc>
                <a:spcPct val="140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  ·  </a:t>
            </a:r>
            <a:endParaRPr lang="en-US" sz="1500" dirty="0"/>
          </a:p>
          <a:p>
            <a:pPr marL="342900" indent="-342900">
              <a:lnSpc>
                <a:spcPct val="140000"/>
              </a:lnSpc>
              <a:spcAft>
                <a:spcPts val="800"/>
              </a:spcAft>
              <a:buSzPct val="100000"/>
              <a:buChar char="•"/>
            </a:pPr>
            <a:r>
              <a:rPr lang="en-US" sz="1500" dirty="0">
                <a:solidFill>
                  <a:srgbClr val="1F2937"/>
                </a:solidFill>
                <a:latin typeface="Courier New" pitchFamily="34" charset="0"/>
                <a:ea typeface="Courier New" pitchFamily="34" charset="-122"/>
                <a:cs typeface="Courier New" pitchFamily="34" charset="-120"/>
              </a:rPr>
              <a:t>write / edit / bash: false</a:t>
            </a:r>
            <a:endParaRPr lang="en-US" sz="1500" dirty="0"/>
          </a:p>
          <a:p>
            <a:pPr marL="342900" indent="-342900">
              <a:lnSpc>
                <a:spcPct val="140000"/>
              </a:lnSpc>
              <a:spcAft>
                <a:spcPts val="800"/>
              </a:spcAft>
              <a:buSzPct val="100000"/>
              <a:buChar char="•"/>
            </a:pPr>
            <a:r>
              <a:rPr lang="en-US" sz="1500" dirty="0">
                <a:solidFill>
                  <a:srgbClr val="1F2937"/>
                </a:solidFill>
                <a:latin typeface="Arial" pitchFamily="34" charset="0"/>
                <a:ea typeface="Arial" pitchFamily="34" charset="-122"/>
                <a:cs typeface="Arial" pitchFamily="34" charset="-120"/>
              </a:rPr>
              <a:t>Body = the loop:  </a:t>
            </a:r>
            <a:endParaRPr lang="en-US" sz="1500" dirty="0"/>
          </a:p>
          <a:p>
            <a:pPr marL="342900" indent="-342900">
              <a:lnSpc>
                <a:spcPct val="140000"/>
              </a:lnSpc>
              <a:spcAft>
                <a:spcPts val="800"/>
              </a:spcAft>
              <a:buSzPct val="100000"/>
              <a:buChar char="•"/>
            </a:pPr>
            <a:r>
              <a:rPr lang="en-US" sz="1500" b="1" dirty="0">
                <a:solidFill>
                  <a:srgbClr val="16A34A"/>
                </a:solidFill>
                <a:latin typeface="Arial" pitchFamily="34" charset="0"/>
                <a:ea typeface="Arial" pitchFamily="34" charset="-122"/>
                <a:cs typeface="Arial" pitchFamily="34" charset="-120"/>
              </a:rPr>
              <a:t>list → assign → fix → repeat → stop with a summary</a:t>
            </a:r>
            <a:endParaRPr lang="en-US" sz="15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Let it loose</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1280160"/>
            <a:ext cx="11274552" cy="457200"/>
          </a:xfrm>
          <a:prstGeom prst="rect">
            <a:avLst/>
          </a:prstGeom>
          <a:noFill/>
          <a:ln/>
        </p:spPr>
        <p:txBody>
          <a:bodyPr wrap="square" rtlCol="0" anchor="ctr"/>
          <a:lstStyle/>
          <a:p>
            <a:pPr indent="0" marL="0">
              <a:buNone/>
            </a:pPr>
            <a:r>
              <a:rPr lang="en-US" sz="1600" dirty="0">
                <a:solidFill>
                  <a:srgbClr val="1F2937"/>
                </a:solidFill>
                <a:latin typeface="Arial" pitchFamily="34" charset="0"/>
                <a:ea typeface="Arial" pitchFamily="34" charset="-122"/>
                <a:cs typeface="Arial" pitchFamily="34" charset="-120"/>
              </a:rPr>
              <a:t>Agent selector → </a:t>
            </a:r>
            <a:pPr indent="0" marL="0">
              <a:buNone/>
            </a:pPr>
            <a:r>
              <a:rPr lang="en-US" sz="1600" b="1" dirty="0">
                <a:solidFill>
                  <a:srgbClr val="16A34A"/>
                </a:solidFill>
                <a:latin typeface="Arial" pitchFamily="34" charset="0"/>
                <a:ea typeface="Arial" pitchFamily="34" charset="-122"/>
                <a:cs typeface="Arial" pitchFamily="34" charset="-120"/>
              </a:rPr>
              <a:t>fleet-manager</a:t>
            </a:r>
            <a:pPr indent="0" marL="0">
              <a:buNone/>
            </a:pPr>
            <a:r>
              <a:rPr lang="en-US" sz="1600" dirty="0">
                <a:solidFill>
                  <a:srgbClr val="1F2937"/>
                </a:solidFill>
                <a:latin typeface="Arial" pitchFamily="34" charset="0"/>
                <a:ea typeface="Arial" pitchFamily="34" charset="-122"/>
                <a:cs typeface="Arial" pitchFamily="34" charset="-120"/>
              </a:rPr>
              <a:t> → send:</a:t>
            </a:r>
            <a:endParaRPr lang="en-US" sz="1600" dirty="0"/>
          </a:p>
        </p:txBody>
      </p:sp>
      <p:sp>
        <p:nvSpPr>
          <p:cNvPr id="6" name="Shape 4"/>
          <p:cNvSpPr/>
          <p:nvPr/>
        </p:nvSpPr>
        <p:spPr>
          <a:xfrm>
            <a:off x="457200" y="1828800"/>
            <a:ext cx="11274552" cy="914400"/>
          </a:xfrm>
          <a:prstGeom prst="roundRect">
            <a:avLst>
              <a:gd name="adj" fmla="val 10000"/>
            </a:avLst>
          </a:prstGeom>
          <a:solidFill>
            <a:srgbClr val="F9FAFB"/>
          </a:solidFill>
          <a:ln w="6350">
            <a:solidFill>
              <a:srgbClr val="9CA3AF"/>
            </a:solidFill>
            <a:prstDash val="solid"/>
          </a:ln>
        </p:spPr>
      </p:sp>
      <p:sp>
        <p:nvSpPr>
          <p:cNvPr id="7" name="Text 5"/>
          <p:cNvSpPr/>
          <p:nvPr/>
        </p:nvSpPr>
        <p:spPr>
          <a:xfrm>
            <a:off x="685800" y="1920240"/>
            <a:ext cx="10817352" cy="731520"/>
          </a:xfrm>
          <a:prstGeom prst="rect">
            <a:avLst/>
          </a:prstGeom>
          <a:noFill/>
          <a:ln/>
        </p:spPr>
        <p:txBody>
          <a:bodyPr wrap="square" rtlCol="0" anchor="ctr"/>
          <a:lstStyle/>
          <a:p>
            <a:pPr algn="l" indent="0" marL="0">
              <a:lnSpc>
                <a:spcPct val="115000"/>
              </a:lnSpc>
              <a:buNone/>
            </a:pPr>
            <a:r>
              <a:rPr lang="en-US" sz="1500" dirty="0">
                <a:solidFill>
                  <a:srgbClr val="1F2937"/>
                </a:solidFill>
                <a:latin typeface="Courier New" pitchFamily="34" charset="0"/>
                <a:ea typeface="Courier New" pitchFamily="34" charset="-122"/>
                <a:cs typeface="Courier New" pitchFamily="34" charset="-120"/>
              </a:rPr>
              <a:t>Resolve all pending maintenance tickets</a:t>
            </a:r>
            <a:endParaRPr lang="en-US" sz="1500" dirty="0"/>
          </a:p>
        </p:txBody>
      </p:sp>
      <p:sp>
        <p:nvSpPr>
          <p:cNvPr id="8" name="Text 6"/>
          <p:cNvSpPr/>
          <p:nvPr/>
        </p:nvSpPr>
        <p:spPr>
          <a:xfrm>
            <a:off x="457200" y="3291840"/>
            <a:ext cx="11274552" cy="2011680"/>
          </a:xfrm>
          <a:prstGeom prst="rect">
            <a:avLst/>
          </a:prstGeom>
          <a:noFill/>
          <a:ln/>
        </p:spPr>
        <p:txBody>
          <a:bodyPr wrap="square" rtlCol="0" anchor="t"/>
          <a:lstStyle/>
          <a:p>
            <a:pPr indent="0" marL="0">
              <a:lnSpc>
                <a:spcPct val="135000"/>
              </a:lnSpc>
              <a:spcAft>
                <a:spcPts val="1200"/>
              </a:spcAft>
              <a:buNone/>
            </a:pPr>
            <a:r>
              <a:rPr lang="en-US" sz="1600" b="1" dirty="0">
                <a:solidFill>
                  <a:srgbClr val="111827"/>
                </a:solidFill>
                <a:latin typeface="Arial" pitchFamily="34" charset="0"/>
                <a:ea typeface="Arial" pitchFamily="34" charset="-122"/>
                <a:cs typeface="Arial" pitchFamily="34" charset="-120"/>
              </a:rPr>
              <a:t>Watch it:  </a:t>
            </a:r>
            <a:pPr indent="0" marL="0">
              <a:lnSpc>
                <a:spcPct val="135000"/>
              </a:lnSpc>
              <a:spcAft>
                <a:spcPts val="1200"/>
              </a:spcAft>
              <a:buNone/>
            </a:pPr>
            <a:r>
              <a:rPr lang="en-US" sz="1600" b="1" dirty="0">
                <a:solidFill>
                  <a:srgbClr val="16A34A"/>
                </a:solidFill>
                <a:latin typeface="Arial" pitchFamily="34" charset="0"/>
                <a:ea typeface="Arial" pitchFamily="34" charset="-122"/>
                <a:cs typeface="Arial" pitchFamily="34" charset="-120"/>
              </a:rPr>
              <a:t>list tickets → assign mechanic → fix bike → repeat ×3 → stops on its own</a:t>
            </a:r>
            <a:pPr indent="0" marL="0">
              <a:lnSpc>
                <a:spcPct val="135000"/>
              </a:lnSpc>
              <a:spcAft>
                <a:spcPts val="1200"/>
              </a:spcAft>
              <a:buNone/>
            </a:pPr>
            <a:r>
              <a:rPr lang="en-US" sz="1600" dirty="0">
                <a:solidFill>
                  <a:srgbClr val="1F2937"/>
                </a:solidFill>
                <a:latin typeface="Arial" pitchFamily="34" charset="0"/>
                <a:ea typeface="Arial" pitchFamily="34" charset="-122"/>
                <a:cs typeface="Arial" pitchFamily="34" charset="-120"/>
              </a:rPr>
              <a:t>  ✅</a:t>
            </a:r>
            <a:endParaRPr lang="en-US" sz="1600" dirty="0"/>
          </a:p>
          <a:p>
            <a:pPr indent="0" marL="0">
              <a:lnSpc>
                <a:spcPct val="135000"/>
              </a:lnSpc>
              <a:buNone/>
            </a:pPr>
            <a:r>
              <a:rPr lang="en-US" sz="1500" dirty="0">
                <a:solidFill>
                  <a:srgbClr val="1F2937"/>
                </a:solidFill>
                <a:latin typeface="Arial" pitchFamily="34" charset="0"/>
                <a:ea typeface="Arial" pitchFamily="34" charset="-122"/>
                <a:cs typeface="Arial" pitchFamily="34" charset="-120"/>
              </a:rPr>
              <a:t>Check the DB:  all bikes </a:t>
            </a:r>
            <a:pPr indent="0" marL="0">
              <a:lnSpc>
                <a:spcPct val="135000"/>
              </a:lnSpc>
              <a:buNone/>
            </a:pPr>
            <a:r>
              <a:rPr lang="en-US" sz="1500" dirty="0">
                <a:solidFill>
                  <a:srgbClr val="1F2937"/>
                </a:solidFill>
                <a:latin typeface="Courier New" pitchFamily="34" charset="0"/>
                <a:ea typeface="Courier New" pitchFamily="34" charset="-122"/>
                <a:cs typeface="Courier New" pitchFamily="34" charset="-120"/>
              </a:rPr>
              <a:t>ok</a:t>
            </a:r>
            <a:pPr indent="0" marL="0">
              <a:lnSpc>
                <a:spcPct val="135000"/>
              </a:lnSpc>
              <a:buNone/>
            </a:pPr>
            <a:r>
              <a:rPr lang="en-US" sz="1500" dirty="0">
                <a:solidFill>
                  <a:srgbClr val="1F2937"/>
                </a:solidFill>
                <a:latin typeface="Arial" pitchFamily="34" charset="0"/>
                <a:ea typeface="Arial" pitchFamily="34" charset="-122"/>
                <a:cs typeface="Arial" pitchFamily="34" charset="-120"/>
              </a:rPr>
              <a:t>, all tickets </a:t>
            </a:r>
            <a:pPr indent="0" marL="0">
              <a:lnSpc>
                <a:spcPct val="135000"/>
              </a:lnSpc>
              <a:buNone/>
            </a:pPr>
            <a:r>
              <a:rPr lang="en-US" sz="1500" dirty="0">
                <a:solidFill>
                  <a:srgbClr val="1F2937"/>
                </a:solidFill>
                <a:latin typeface="Courier New" pitchFamily="34" charset="0"/>
                <a:ea typeface="Courier New" pitchFamily="34" charset="-122"/>
                <a:cs typeface="Courier New" pitchFamily="34" charset="-120"/>
              </a:rPr>
              <a:t>closed</a:t>
            </a:r>
            <a:endParaRPr lang="en-US" sz="16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11247120" y="6446520"/>
            <a:ext cx="822960" cy="274320"/>
          </a:xfrm>
          <a:prstGeom prst="rect">
            <a:avLst/>
          </a:prstGeom>
          <a:noFill/>
          <a:ln/>
        </p:spPr>
        <p:txBody>
          <a:bodyPr wrap="square" rtlCol="0" anchor="ctr"/>
          <a:lstStyle/>
          <a:p>
            <a:pPr algn="r" indent="0" marL="0">
              <a:buNone/>
            </a:pPr>
            <a:r>
              <a:rPr lang="en-US" sz="900" b="1" dirty="0">
                <a:solidFill>
                  <a:srgbClr val="111827"/>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111827"/>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457200" y="274320"/>
            <a:ext cx="11274552" cy="640080"/>
          </a:xfrm>
          <a:prstGeom prst="rect">
            <a:avLst/>
          </a:prstGeom>
          <a:noFill/>
          <a:ln/>
        </p:spPr>
        <p:txBody>
          <a:bodyPr wrap="square" rtlCol="0" anchor="ctr"/>
          <a:lstStyle/>
          <a:p>
            <a:pPr algn="l" indent="0" marL="0">
              <a:buNone/>
            </a:pPr>
            <a:r>
              <a:rPr lang="en-US" sz="3300" dirty="0">
                <a:solidFill>
                  <a:srgbClr val="111827"/>
                </a:solidFill>
                <a:latin typeface="Arial" pitchFamily="34" charset="0"/>
                <a:ea typeface="Arial" pitchFamily="34" charset="-122"/>
                <a:cs typeface="Arial" pitchFamily="34" charset="-120"/>
              </a:rPr>
              <a:t>Today you built</a:t>
            </a:r>
            <a:endParaRPr lang="en-US" sz="3300" dirty="0"/>
          </a:p>
        </p:txBody>
      </p:sp>
      <p:sp>
        <p:nvSpPr>
          <p:cNvPr id="4" name="Shape 2"/>
          <p:cNvSpPr/>
          <p:nvPr/>
        </p:nvSpPr>
        <p:spPr>
          <a:xfrm>
            <a:off x="457200" y="914400"/>
            <a:ext cx="1371600" cy="36576"/>
          </a:xfrm>
          <a:prstGeom prst="rect">
            <a:avLst/>
          </a:prstGeom>
          <a:solidFill>
            <a:srgbClr val="22C55E"/>
          </a:solidFill>
          <a:ln/>
        </p:spPr>
      </p:sp>
      <p:sp>
        <p:nvSpPr>
          <p:cNvPr id="5" name="Text 3"/>
          <p:cNvSpPr/>
          <p:nvPr/>
        </p:nvSpPr>
        <p:spPr>
          <a:xfrm>
            <a:off x="457200" y="2011680"/>
            <a:ext cx="11274552" cy="640080"/>
          </a:xfrm>
          <a:prstGeom prst="rect">
            <a:avLst/>
          </a:prstGeom>
          <a:noFill/>
          <a:ln/>
        </p:spPr>
        <p:txBody>
          <a:bodyPr wrap="square" rtlCol="0" anchor="ctr"/>
          <a:lstStyle/>
          <a:p>
            <a:pPr indent="0" marL="0">
              <a:buNone/>
            </a:pPr>
            <a:r>
              <a:rPr lang="en-US" sz="1800" b="1" dirty="0">
                <a:solidFill>
                  <a:srgbClr val="16A34A"/>
                </a:solidFill>
                <a:latin typeface="Arial" pitchFamily="34" charset="0"/>
                <a:ea typeface="Arial" pitchFamily="34" charset="-122"/>
                <a:cs typeface="Arial" pitchFamily="34" charset="-120"/>
              </a:rPr>
              <a:t>Memory</a:t>
            </a:r>
            <a:pPr indent="0" marL="0">
              <a:buNone/>
            </a:pPr>
            <a:r>
              <a:rPr lang="en-US" sz="1500" dirty="0">
                <a:solidFill>
                  <a:srgbClr val="1F2937"/>
                </a:solidFill>
                <a:latin typeface="Arial" pitchFamily="34" charset="0"/>
                <a:ea typeface="Arial" pitchFamily="34" charset="-122"/>
                <a:cs typeface="Arial" pitchFamily="34" charset="-120"/>
              </a:rPr>
              <a:t> (sessions &amp; AGENTS.md)</a:t>
            </a:r>
            <a:pPr indent="0" marL="0">
              <a:buNone/>
            </a:pPr>
            <a:r>
              <a:rPr lang="en-US" sz="1800" dirty="0">
                <a:solidFill>
                  <a:srgbClr val="9CA3AF"/>
                </a:solidFill>
                <a:latin typeface="Arial" pitchFamily="34" charset="0"/>
                <a:ea typeface="Arial" pitchFamily="34" charset="-122"/>
                <a:cs typeface="Arial" pitchFamily="34" charset="-120"/>
              </a:rPr>
              <a:t>   ·   </a:t>
            </a:r>
            <a:pPr indent="0" marL="0">
              <a:buNone/>
            </a:pPr>
            <a:r>
              <a:rPr lang="en-US" sz="1800" b="1" dirty="0">
                <a:solidFill>
                  <a:srgbClr val="16A34A"/>
                </a:solidFill>
                <a:latin typeface="Arial" pitchFamily="34" charset="0"/>
                <a:ea typeface="Arial" pitchFamily="34" charset="-122"/>
                <a:cs typeface="Arial" pitchFamily="34" charset="-120"/>
              </a:rPr>
              <a:t>Truth</a:t>
            </a:r>
            <a:pPr indent="0" marL="0">
              <a:buNone/>
            </a:pPr>
            <a:r>
              <a:rPr lang="en-US" sz="1500" dirty="0">
                <a:solidFill>
                  <a:srgbClr val="1F2937"/>
                </a:solidFill>
                <a:latin typeface="Arial" pitchFamily="34" charset="0"/>
                <a:ea typeface="Arial" pitchFamily="34" charset="-122"/>
                <a:cs typeface="Arial" pitchFamily="34" charset="-120"/>
              </a:rPr>
              <a:t> (grounding)</a:t>
            </a:r>
            <a:pPr indent="0" marL="0">
              <a:buNone/>
            </a:pPr>
            <a:r>
              <a:rPr lang="en-US" sz="1800" dirty="0">
                <a:solidFill>
                  <a:srgbClr val="9CA3AF"/>
                </a:solidFill>
                <a:latin typeface="Arial" pitchFamily="34" charset="0"/>
                <a:ea typeface="Arial" pitchFamily="34" charset="-122"/>
                <a:cs typeface="Arial" pitchFamily="34" charset="-120"/>
              </a:rPr>
              <a:t>   ·   </a:t>
            </a:r>
            <a:pPr indent="0" marL="0">
              <a:buNone/>
            </a:pPr>
            <a:r>
              <a:rPr lang="en-US" sz="1800" b="1" dirty="0">
                <a:solidFill>
                  <a:srgbClr val="16A34A"/>
                </a:solidFill>
                <a:latin typeface="Arial" pitchFamily="34" charset="0"/>
                <a:ea typeface="Arial" pitchFamily="34" charset="-122"/>
                <a:cs typeface="Arial" pitchFamily="34" charset="-120"/>
              </a:rPr>
              <a:t>Hands</a:t>
            </a:r>
            <a:pPr indent="0" marL="0">
              <a:buNone/>
            </a:pPr>
            <a:r>
              <a:rPr lang="en-US" sz="1500" dirty="0">
                <a:solidFill>
                  <a:srgbClr val="1F2937"/>
                </a:solidFill>
                <a:latin typeface="Arial" pitchFamily="34" charset="0"/>
                <a:ea typeface="Arial" pitchFamily="34" charset="-122"/>
                <a:cs typeface="Arial" pitchFamily="34" charset="-120"/>
              </a:rPr>
              <a:t> (custom tools)</a:t>
            </a:r>
            <a:pPr indent="0" marL="0">
              <a:buNone/>
            </a:pPr>
            <a:r>
              <a:rPr lang="en-US" sz="1800" dirty="0">
                <a:solidFill>
                  <a:srgbClr val="9CA3AF"/>
                </a:solidFill>
                <a:latin typeface="Arial" pitchFamily="34" charset="0"/>
                <a:ea typeface="Arial" pitchFamily="34" charset="-122"/>
                <a:cs typeface="Arial" pitchFamily="34" charset="-120"/>
              </a:rPr>
              <a:t>   ·   </a:t>
            </a:r>
            <a:pPr indent="0" marL="0">
              <a:buNone/>
            </a:pPr>
            <a:r>
              <a:rPr lang="en-US" sz="1800" b="1" dirty="0">
                <a:solidFill>
                  <a:srgbClr val="16A34A"/>
                </a:solidFill>
                <a:latin typeface="Arial" pitchFamily="34" charset="0"/>
                <a:ea typeface="Arial" pitchFamily="34" charset="-122"/>
                <a:cs typeface="Arial" pitchFamily="34" charset="-120"/>
              </a:rPr>
              <a:t>Autonomy</a:t>
            </a:r>
            <a:pPr indent="0" marL="0">
              <a:buNone/>
            </a:pPr>
            <a:r>
              <a:rPr lang="en-US" sz="1500" dirty="0">
                <a:solidFill>
                  <a:srgbClr val="1F2937"/>
                </a:solidFill>
                <a:latin typeface="Arial" pitchFamily="34" charset="0"/>
                <a:ea typeface="Arial" pitchFamily="34" charset="-122"/>
                <a:cs typeface="Arial" pitchFamily="34" charset="-120"/>
              </a:rPr>
              <a:t> (agents)</a:t>
            </a:r>
            <a:endParaRPr lang="en-US" sz="1800" dirty="0"/>
          </a:p>
        </p:txBody>
      </p:sp>
      <p:sp>
        <p:nvSpPr>
          <p:cNvPr id="6" name="Text 4"/>
          <p:cNvSpPr/>
          <p:nvPr/>
        </p:nvSpPr>
        <p:spPr>
          <a:xfrm>
            <a:off x="457200" y="3291840"/>
            <a:ext cx="11274552" cy="822960"/>
          </a:xfrm>
          <a:prstGeom prst="rect">
            <a:avLst/>
          </a:prstGeom>
          <a:noFill/>
          <a:ln/>
        </p:spPr>
        <p:txBody>
          <a:bodyPr wrap="square" rtlCol="0" anchor="ctr"/>
          <a:lstStyle/>
          <a:p>
            <a:pPr algn="ctr" indent="0" marL="0">
              <a:buNone/>
            </a:pPr>
            <a:r>
              <a:rPr lang="en-US" sz="2800" b="1" dirty="0">
                <a:solidFill>
                  <a:srgbClr val="111827"/>
                </a:solidFill>
                <a:latin typeface="Arial" pitchFamily="34" charset="0"/>
                <a:ea typeface="Arial" pitchFamily="34" charset="-122"/>
                <a:cs typeface="Arial" pitchFamily="34" charset="-120"/>
              </a:rPr>
              <a:t>That is 90% of modern AI engineering.</a:t>
            </a:r>
            <a:endParaRPr lang="en-US" sz="2800" dirty="0"/>
          </a:p>
        </p:txBody>
      </p:sp>
      <p:sp>
        <p:nvSpPr>
          <p:cNvPr id="25" name="Slide Number Placeholder 0"/>
          <p:cNvSpPr>
            <a:spLocks noGrp="1"/>
          </p:cNvSpPr>
          <p:nvPr>
            <p:ph type="sldNum" sz="quarter" idx="4294967295"/>
          </p:nvPr>
        </p:nvSpPr>
        <p:spPr>
          <a:xfrm>
            <a:off x="5760720" y="6446520"/>
            <a:ext cx="731520" cy="274320"/>
          </a:xfrm>
          <a:prstGeom prst="rect">
            <a:avLst/>
          </a:prstGeom>
          <a:extLst>
            <a:ext uri="{C572A759-6A51-4108-AA02-DFA0A04FC94B}">
              <ma14:wrappingTextBoxFlag xmlns:ma14="http://schemas.microsoft.com/office/mac/drawingml/2011/main" val="0"/>
            </a:ext>
          </a:extLst>
        </p:spPr>
        <p:txBody>
          <a:bodyPr/>
          <a:lstStyle>
            <a:lvl1pPr>
              <a:defRPr sz="800">
                <a:solidFill>
                  <a:srgbClr val="9CA3AF"/>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11247120" y="5989320"/>
            <a:ext cx="822960" cy="274320"/>
          </a:xfrm>
          <a:prstGeom prst="rect">
            <a:avLst/>
          </a:prstGeom>
          <a:noFill/>
          <a:ln/>
        </p:spPr>
        <p:txBody>
          <a:bodyPr wrap="square" rtlCol="0" anchor="ctr"/>
          <a:lstStyle/>
          <a:p>
            <a:pPr algn="r" indent="0" marL="0">
              <a:buNone/>
            </a:pPr>
            <a:r>
              <a:rPr lang="en-US" sz="900" b="1" dirty="0">
                <a:solidFill>
                  <a:srgbClr val="FFFFFF"/>
                </a:solidFill>
                <a:latin typeface="Arial Bold" pitchFamily="34" charset="0"/>
                <a:ea typeface="Arial Bold" pitchFamily="34" charset="-122"/>
                <a:cs typeface="Arial Bold" pitchFamily="34" charset="-120"/>
              </a:rPr>
              <a:t>x</a:t>
            </a:r>
            <a:pPr algn="r" indent="0" marL="0">
              <a:buNone/>
            </a:pPr>
            <a:r>
              <a:rPr lang="en-US" sz="900" b="1" dirty="0">
                <a:solidFill>
                  <a:srgbClr val="22C55E"/>
                </a:solidFill>
                <a:latin typeface="Arial Bold" pitchFamily="34" charset="0"/>
                <a:ea typeface="Arial Bold" pitchFamily="34" charset="-122"/>
                <a:cs typeface="Arial Bold" pitchFamily="34" charset="-120"/>
              </a:rPr>
              <a:t>P</a:t>
            </a:r>
            <a:pPr algn="r" indent="0" marL="0">
              <a:buNone/>
            </a:pPr>
            <a:r>
              <a:rPr lang="en-US" sz="900" b="1" dirty="0">
                <a:solidFill>
                  <a:srgbClr val="FFFFFF"/>
                </a:solidFill>
                <a:latin typeface="Arial Bold" pitchFamily="34" charset="0"/>
                <a:ea typeface="Arial Bold" pitchFamily="34" charset="-122"/>
                <a:cs typeface="Arial Bold" pitchFamily="34" charset="-120"/>
              </a:rPr>
              <a:t>egy</a:t>
            </a:r>
            <a:endParaRPr lang="en-US" sz="900" dirty="0"/>
          </a:p>
        </p:txBody>
      </p:sp>
      <p:sp>
        <p:nvSpPr>
          <p:cNvPr id="3" name="Text 1"/>
          <p:cNvSpPr/>
          <p:nvPr/>
        </p:nvSpPr>
        <p:spPr>
          <a:xfrm>
            <a:off x="1828800" y="2286000"/>
            <a:ext cx="8531352" cy="1371600"/>
          </a:xfrm>
          <a:prstGeom prst="rect">
            <a:avLst/>
          </a:prstGeom>
          <a:noFill/>
          <a:ln/>
        </p:spPr>
        <p:txBody>
          <a:bodyPr wrap="square" rtlCol="0" anchor="ctr"/>
          <a:lstStyle/>
          <a:p>
            <a:pPr algn="ctr" indent="0" marL="0">
              <a:buNone/>
            </a:pPr>
            <a:r>
              <a:rPr lang="en-US" sz="4400" dirty="0">
                <a:solidFill>
                  <a:srgbClr val="FFFFFF"/>
                </a:solidFill>
                <a:latin typeface="Arial" pitchFamily="34" charset="0"/>
                <a:ea typeface="Arial" pitchFamily="34" charset="-122"/>
                <a:cs typeface="Arial" pitchFamily="34" charset="-120"/>
              </a:rPr>
              <a:t>Now go build.</a:t>
            </a:r>
            <a:endParaRPr lang="en-US" sz="4400" dirty="0"/>
          </a:p>
        </p:txBody>
      </p:sp>
      <p:sp>
        <p:nvSpPr>
          <p:cNvPr id="4" name="Text 2"/>
          <p:cNvSpPr/>
          <p:nvPr/>
        </p:nvSpPr>
        <p:spPr>
          <a:xfrm>
            <a:off x="1828800" y="5303520"/>
            <a:ext cx="8531352" cy="365760"/>
          </a:xfrm>
          <a:prstGeom prst="rect">
            <a:avLst/>
          </a:prstGeom>
          <a:noFill/>
          <a:ln/>
        </p:spPr>
        <p:txBody>
          <a:bodyPr wrap="square" rtlCol="0" anchor="ctr"/>
          <a:lstStyle/>
          <a:p>
            <a:pPr algn="ctr" indent="0" marL="0">
              <a:buNone/>
            </a:pPr>
            <a:r>
              <a:rPr lang="en-US" sz="1800" dirty="0">
                <a:solidFill>
                  <a:srgbClr val="22C55E"/>
                </a:solidFill>
                <a:latin typeface="Arial" pitchFamily="34" charset="0"/>
                <a:ea typeface="Arial" pitchFamily="34" charset="-122"/>
                <a:cs typeface="Arial" pitchFamily="34" charset="-120"/>
              </a:rPr>
              <a:t>Questions?</a:t>
            </a:r>
            <a:endParaRPr lang="en-US" sz="1800" dirty="0"/>
          </a:p>
        </p:txBody>
      </p:sp>
      <p:sp>
        <p:nvSpPr>
          <p:cNvPr id="5" name="Text 3"/>
          <p:cNvSpPr/>
          <p:nvPr/>
        </p:nvSpPr>
        <p:spPr>
          <a:xfrm>
            <a:off x="1828800" y="5669280"/>
            <a:ext cx="8531352" cy="365760"/>
          </a:xfrm>
          <a:prstGeom prst="rect">
            <a:avLst/>
          </a:prstGeom>
          <a:noFill/>
          <a:ln/>
        </p:spPr>
        <p:txBody>
          <a:bodyPr wrap="square" rtlCol="0" anchor="ctr"/>
          <a:lstStyle/>
          <a:p>
            <a:pPr algn="ctr" indent="0" marL="0">
              <a:buNone/>
            </a:pPr>
            <a:r>
              <a:rPr lang="en-US" sz="1000" dirty="0">
                <a:solidFill>
                  <a:srgbClr val="9CA3AF"/>
                </a:solidFill>
                <a:latin typeface="Arial" pitchFamily="34" charset="0"/>
                <a:ea typeface="Arial" pitchFamily="34" charset="-122"/>
                <a:cs typeface="Arial" pitchFamily="34" charset="-120"/>
              </a:rPr>
              <a:t>Workshop materials: github repo · opencode.ai</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xPegy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E-Bike Fleet Manager — Workshop</dc:title>
  <dc:subject>PptxGenJS Presentation</dc:subject>
  <dc:creator>xPegy</dc:creator>
  <cp:lastModifiedBy>xPegy</cp:lastModifiedBy>
  <cp:revision>1</cp:revision>
  <dcterms:created xsi:type="dcterms:W3CDTF">2026-07-23T17:33:58Z</dcterms:created>
  <dcterms:modified xsi:type="dcterms:W3CDTF">2026-07-23T17:33:58Z</dcterms:modified>
</cp:coreProperties>
</file>