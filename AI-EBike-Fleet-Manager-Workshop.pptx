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0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7299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Presentarse en una frase. Mensaje clave: "no vengo a dar teoría; vais a gobernar un agente de IA real dentro de la app OpenCode, con modelos gratis — sin cuentas, sin keys, sin compilar nada". La app gestiona una flota de bicis eléctricas. Preguntar a mano alzada: ¿quién ha usado ChatGPT? ¿quién un agente de código?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Vender el formato: taller MUY práctico. Ritmo de cada módulo: (1) mini-teoría de 2 minutos, (2) yo proyecto una demo GRABADA — cero riesgo de que el modelo falle en vivo, (3) vosotros lo hacéis con un tutor IA (`/module-N`) que guía paso a paso con pistas, sin hacer el trabajo por vosotros. Recalcar: no vamos a compilar nada en 90 minutos; la app es la única herramienta.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Enseñar los tiempos: 4 módulos de 15 minutos, cada uno con su concepto, su demo grabada y su hands-on con tutor. Avisar: "los que terminéis antes, ayudáis al de al lado — enseñar es la mejor forma de aprender".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los equipos son Windows: "OpenCode Desktop — Windows (x64)" desde opencode.ai/download; tener los instaladores en USB por si el WiFi del aula va lento. El repo: `git clone` en PowerShell (Git for Windows) o el botón "Code → Download ZIP" y descomprimir. Leer la lista de NO en voz alta: no se compila nada en todo el taller — el agente es la única herramienta. Aviso: la primera apertura del proyecto auto-instala las dependencias del plugin (internet solo esa vez).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Checkpoint: todo el mundo abre `starter/` (File → Open Folder), elige Big Pickle en el selector y recibe respuesta a un "Hello". Troubleshooting: la primera apertura auto-instala dependencias (internet una vez); si sale "No provider available" es rate limit del free tier — esperar ~30 s y reintentar, o cambiar a otro modelo gratis. Presentar los comandos tutor: guían paso a paso, dan pistas, no soluciones. Los `demos/` son solo del instructor. Fin del Setup (~10').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concepto más importante del taller (~2 min). El modelo es una función matemática gigante: `f(texto) → texto`. Cuando parezca que "recuerda", "consulta" o "actúa", en realidad es el software que lo rodea — hoy, OpenCode.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ejes sin entrar en benchmarks: tamaño, velocidad, coste — todo es un trade-off. Hoy usamos los modelos gratuitos integrados en OpenCode. Enseñar el selector en la parte inferior de la ventana. Fallbacks si uno falla: `nemotron-3-ultra-free` · `deepseek-v4-flash-free`. (~2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Trocear la frase de ejemplo en la pizarra si hace falta. Los tokens son la unidad de TODO: de lo que envías y de lo que recibes — por eso las conversaciones largas cuestan más y por eso existe el presupuesto de la ventana (siguiente slide) y el comando `/compact` (Módulo 1). (~2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analogía de la amnesia: hablar con alguien a quien hay que pasarle la transcripción completa de la conversación en cada frase. Esto ES el Módulo 1 que experimentarán en media hora. La "memoria" del chat es software (la sesión), no magia. (~2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Analogía: pensar despacio antes de hablar vs responder de corrido. En la app se puede ajustar el nivel de esfuerzo de razonamiento; para el taller el nivel por defecto va sobrado — mencionarlo como herramienta cuando un modelo falle en una tarea retorcida (y recordar que más esfuerzo = más tokens = más coste). (~2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módulo (2 min, sin código): sesiones, `/compact`, `/init` → AGENTS.md. A continuación la demo grabada M1; después ellos hacen los experimentos con el tutor `/module-1` (nombre → nueva sesión → amnesia → volver → contador de tokens → /compact → /init).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Coreografía: abrir la carpeta `demos/m1-bare` en OpenCode, abrir la sesión grabada `DEMO M1…` (instalada con `import_demo_sessions.py`). Recorrer prompt y salida: informe seguro de sí mismo — flota de 200 bicis, 10 averiadas, buckets de batería ordenados — TODO fabricado; la flota real tiene 8 bicis. Palabra del día: **hallucination**. Preguntar a la sala: "¿cómo sabríais que miente?". Después: `/module-1` (15').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defensas contra lo visto en M1 (2 min): (1) grounding — una regla en AGENTS.md obliga a llamar a las tools de lectura antes de responder, RAG en su versión mínima; (2) un hook (`tool.execute.before`) que inspecciona cada llamada a tool y puede bloquearla — no depende del humor del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MONEY SHOT: abrir `demos/m2-grounded`, sesión `DEMO M2…` — es EXACTAMENTE la misma prompt que en M1, pero la salida cita la llamada a `fleet_get_fleet_status` y los datos reales (8 bicis, #3 y #7 averiadas, #5 en mantenimiento). Poner M1 y M2 una al lado de la otra. Después, demo EN VIVO del guard (es determinista): pedirle que ejecute `rm -rf /tmp/whatever` y ver el bloqueo del plugin. Ellos: `/module-2` (15').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Anatomía de una tool (2 min): `.opencode/tools/fleet.ts`; cada export se convierte en una tool `&lt;fichero&gt;_&lt;export&gt;`; el modelo ve la descripción y el esquema y decide cuándo llamarla y con qué argumentos; quien ejecuta el SQL es NUESTRO código. Seguridad: permisos ask/allow de la app + el guard del Módulo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`demos/m3-tools`, sesión `DEMO M3…`. Señalar: el modelo eligió la tool Y el argumento por sí solo; una frase en inglés se convirtió en un UPDATE real (la BD de la demo está reseteada a pristine — la sesión grabada es la prueba). Ellos implementan las dos tools de escritura con el tutor `/module-3` (15').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salto conceptual (2 min): el bucle deja de ser humano↔IA y pasa a ser IA↔tools. El agente `fleet-manager` tiene SOLO las tools `fleet_*` (sin bash/write/edit) y un tope de 20 pasos como fusible contra bucles infinitos. Los permisos de la app son la otra puerta de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`demos/m4-agent`, sesión `DEMO M4…`. Recorrer el bucle: `fleet_list_pending_tickets` → `fleet_assign_mechanic` → `fleet_mark_bike_fixed`, tres veces (tickets #1-#3; el #4 se cierra solo al arreglar la bici #3), y se DETIENE SOLO con un resumen. Mostrar después el archivo `.opencode/agents/fleet-manager.md`. Ellos completan el agente con `/module-4` (15').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los 4 conceptos de hoy son los mismos que usan ChatGPT, Copilot y cualquier agente serio. Ideas para casa: añadir una tool nueva (¿`order_parts`?), endurecer el guard con más patrones o probar otro modelo gratis. Q&amp;A y despedida (5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cierre. Abrir turno de preguntas y recordar dónde están los materiales: el repo del taller y opencode.ai para seguir practicando en casa (gratis, sin cuenta).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1097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109728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457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457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_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457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3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33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33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11247120" y="5989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E-Bike Fleet Manager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389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hands-on AI workshop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 minutes · Hands-on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today works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practical contract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theory block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 min per concept)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show you a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demo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real prompts, real outputs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it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endParaRPr lang="en-US" sz="1600" dirty="0"/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/module-1 </a:t>
            </a:r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… </a:t>
            </a:r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/module-4</a:t>
            </a:r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compiling, no SDKs —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 is all you need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29260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76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Install &amp; first chat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AI works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LLM, models, tokens, context, effort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window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Grounding &amp; hooks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tools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Autonomous agent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Wrap-up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big picture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install… and what NOT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exactly TWO things:</a:t>
            </a:r>
            <a:endParaRPr lang="en-US" sz="17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AutoNum type="arabicPeriod"/>
            </a:pPr>
            <a:r>
              <a:rPr lang="en-US" sz="1600" b="1" dirty="0" err="1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</a:t>
            </a: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Desktop — Windows (x64)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opencode.ai/download</a:t>
            </a:r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AutoNum type="arabicPeriod"/>
            </a:pPr>
            <a:r>
              <a:rPr lang="en-US" sz="1600" b="1" dirty="0" err="1">
                <a:solidFill>
                  <a:srgbClr val="111827"/>
                </a:solidFill>
                <a:latin typeface="Arial" pitchFamily="34" charset="0"/>
                <a:cs typeface="Arial" pitchFamily="34" charset="-120"/>
              </a:rPr>
              <a:t>Url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cs typeface="Courier New" pitchFamily="34" charset="-120"/>
              </a:rPr>
              <a:t> http://</a:t>
            </a:r>
            <a:r>
              <a:rPr lang="en-US" sz="1600" dirty="0" err="1">
                <a:solidFill>
                  <a:srgbClr val="1F2937"/>
                </a:solidFill>
                <a:latin typeface="Courier New" pitchFamily="34" charset="0"/>
                <a:cs typeface="Courier New" pitchFamily="34" charset="-120"/>
              </a:rPr>
              <a:t>bit.ly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cs typeface="Courier New" pitchFamily="34" charset="-120"/>
              </a:rPr>
              <a:t>/4bcO6xk</a:t>
            </a:r>
            <a:endParaRPr lang="en-US" sz="1700" dirty="0"/>
          </a:p>
          <a:p>
            <a:pPr marL="0" indent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 </a:t>
            </a: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repo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</a:t>
            </a:r>
            <a:r>
              <a:rPr lang="en-US" sz="1600" dirty="0" err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600" dirty="0" err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JaviPege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/mundus-ai-programming-course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   GitHub → Code → Download ZIP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open 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OpenCode · pick a free model (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Pickle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11274552" cy="9144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needed:  NO compiler · NO SDK · NO Python · NO API key · NO account · NO billing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530352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not compile any code — the agent IS the only tool you need.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 works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7455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Open 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new session → send 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it answers ✅</a:t>
            </a:r>
            <a:endParaRPr lang="en-US" sz="1600" dirty="0"/>
          </a:p>
          <a:p>
            <a:pPr marL="0" indent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Stuck later? Type </a:t>
            </a: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/module-1 … /module-4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AI tutors you step by step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The 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folders = the instructor's recorded demos (not for you… yet)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LLM actually does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1274552" cy="109728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in → probability machine → text out.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1127455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"know" things — it predicts plausible text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remember you — no memory of its own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DO anything — every action is code running for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models are equal: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↔ small · fast ↔ smart · free ↔ paid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FREE models inside OpenCode — 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Pickle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friends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yours in the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selector</a:t>
            </a:r>
            <a:r>
              <a:rPr lang="en-US" sz="17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(bottom of the window)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don't read words — they read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token ≈ 4 characters ≈ ¾ of a word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= the "currency" of every model call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bills input + output — long conversations cost more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4114800"/>
            <a:ext cx="10817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"Battery not charging"  →  ~5 tokens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&amp; statelessness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127455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window =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model's entire world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thing the model sees is the text in the current session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starts from ZERO — no memory between calls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"Memory" = the app resending the conversation every time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effort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can "think longer" before answering</a:t>
            </a:r>
          </a:p>
          <a:p>
            <a:pPr marL="0" indent="0">
              <a:lnSpc>
                <a:spcPct val="140000"/>
              </a:lnSpc>
              <a:spcAft>
                <a:spcPts val="1200"/>
              </a:spcAft>
              <a:buNone/>
            </a:pP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effort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better reasoning… slower, more tokens</a:t>
            </a: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effort</a:t>
            </a:r>
            <a:r>
              <a:rPr lang="en-US" sz="17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fast and cheap… more mistakes</a:t>
            </a:r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it up for hard problems; keep it fast for chat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· Context in practice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context window — its "memory”</a:t>
            </a:r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session =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amnesia</a:t>
            </a:r>
            <a:endParaRPr lang="en-US" sz="1600" dirty="0"/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/compact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summarizes long history so it fits</a:t>
            </a:r>
            <a:endParaRPr lang="en-US" sz="1600" dirty="0"/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</a:t>
            </a:r>
            <a:r>
              <a:rPr lang="en-US" sz="1600" b="1" dirty="0" err="1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the project's persistent memory (read every session)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· DEMO: an agent with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demos/m1-bare</a:t>
            </a: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M1 — No tools: the model invents the fleet report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108173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me the morning status report for the e-bike fleet: total bikes,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broken bikes, and battery levels. Just give me the report, no questions.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166579"/>
            <a:ext cx="11274552" cy="109122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Confident, detailed… and </a:t>
            </a: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invented</a:t>
            </a:r>
            <a:r>
              <a:rPr lang="en-US" sz="1500" b="1" dirty="0"/>
              <a:t> 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(200 bikes?! the real fleet has 8)</a:t>
            </a:r>
            <a:r>
              <a:rPr lang="en-US" sz="1500" dirty="0"/>
              <a:t> </a:t>
            </a: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would you know?"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· Grounding &amp; hooks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Grounding: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the FACTS — </a:t>
            </a:r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Courier New" pitchFamily="34" charset="-122"/>
                <a:cs typeface="Arial" pitchFamily="34" charset="-120"/>
              </a:rPr>
              <a:t>	</a:t>
            </a:r>
            <a:r>
              <a:rPr lang="en-US" sz="1600" dirty="0" err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+ read tools = the simplest RAG</a:t>
            </a:r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Hooks: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 that intercepts tool calls BEFORE they run</a:t>
            </a:r>
            <a:endParaRPr lang="en-US" sz="1600" dirty="0"/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	Our guard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dangerous commands — deterministically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· DEMO: same prompt, different output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demos/m2-grounded</a:t>
            </a: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M2 — Same prompt, grounded: real data via fleet tools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455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5000"/>
              </a:lnSpc>
              <a:spcAft>
                <a:spcPts val="800"/>
              </a:spcAft>
              <a:buSzPct val="100000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prompt as M1 → </a:t>
            </a:r>
            <a:r>
              <a:rPr lang="en-US" sz="1500" dirty="0" err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fleet_get_fleet_status</a:t>
            </a:r>
            <a:r>
              <a:rPr lang="en-US" sz="1500" dirty="0"/>
              <a:t> 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data: 8 bikes · #3, #7 broken · #5 maintenance</a:t>
            </a:r>
            <a:endParaRPr lang="en-US" sz="1500" dirty="0"/>
          </a:p>
          <a:p>
            <a:pPr>
              <a:lnSpc>
                <a:spcPct val="135000"/>
              </a:lnSpc>
              <a:spcAft>
                <a:spcPts val="800"/>
              </a:spcAft>
              <a:buSzPct val="100000"/>
            </a:pPr>
            <a:endParaRPr lang="en-US" sz="1500" dirty="0">
              <a:solidFill>
                <a:srgbClr val="1F293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35000"/>
              </a:lnSpc>
              <a:spcAft>
                <a:spcPts val="800"/>
              </a:spcAft>
              <a:buSzPct val="100000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different output — </a:t>
            </a: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grounding, not a smarter model</a:t>
            </a:r>
            <a:endParaRPr lang="en-US" sz="1500" dirty="0"/>
          </a:p>
          <a:p>
            <a:pPr>
              <a:lnSpc>
                <a:spcPct val="135000"/>
              </a:lnSpc>
              <a:spcAft>
                <a:spcPts val="800"/>
              </a:spcAft>
              <a:buSzPct val="100000"/>
            </a:pPr>
            <a:endParaRPr lang="en-US" sz="1500" b="1" dirty="0">
              <a:solidFill>
                <a:srgbClr val="11182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35000"/>
              </a:lnSpc>
              <a:spcAft>
                <a:spcPts val="800"/>
              </a:spcAft>
              <a:buSzPct val="100000"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	LIVE: </a:t>
            </a:r>
            <a:endParaRPr lang="en-US" sz="1500" dirty="0"/>
          </a:p>
          <a:p>
            <a:pPr>
              <a:lnSpc>
                <a:spcPct val="135000"/>
              </a:lnSpc>
              <a:spcAft>
                <a:spcPts val="800"/>
              </a:spcAft>
              <a:buSzPct val="100000"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	run rm -rf /tmp/whatever</a:t>
            </a:r>
            <a:r>
              <a:rPr lang="en-US" sz="1500" dirty="0"/>
              <a:t> 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guard </a:t>
            </a: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it</a:t>
            </a:r>
            <a:r>
              <a:rPr lang="en-US" sz="1500" b="1" dirty="0"/>
              <a:t> 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· Function calling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YOUR function, described to the model (name + Zod schema = the contract)</a:t>
            </a:r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PROPOSES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call: </a:t>
            </a:r>
            <a:endParaRPr lang="en-US" sz="1600" dirty="0"/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</a:t>
            </a:r>
            <a:r>
              <a:rPr lang="en-US" sz="1600" dirty="0" err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fleet_mark_bike_fixed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{"bike_id": 3}</a:t>
            </a:r>
          </a:p>
          <a:p>
            <a:pPr>
              <a:lnSpc>
                <a:spcPct val="140000"/>
              </a:lnSpc>
              <a:spcAft>
                <a:spcPts val="800"/>
              </a:spcAft>
              <a:buSzPct val="100000"/>
            </a:pP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code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— a real </a:t>
            </a: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</a:t>
            </a:r>
            <a:r>
              <a:rPr lang="en-US" sz="1600" dirty="0" err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600" dirty="0">
              <a:solidFill>
                <a:srgbClr val="1F2937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endParaRPr lang="en-US" sz="1600" b="1" dirty="0">
              <a:solidFill>
                <a:srgbClr val="1F2937"/>
              </a:solidFill>
              <a:latin typeface="Courier New" pitchFamily="34" charset="0"/>
              <a:ea typeface="Arial" pitchFamily="34" charset="-122"/>
              <a:cs typeface="Courier New" pitchFamily="34" charset="-120"/>
            </a:endParaRPr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proposes; your code disposes.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· DEMO: a sentence writes to the DB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demos/m3-tools</a:t>
            </a: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M3 — Function calling: 'Bike #3 is repaired' writes to the DB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Bike #3 is repaired.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11274552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plain sentence → </a:t>
            </a:r>
            <a:r>
              <a:rPr lang="en-US" sz="1500" b="1" dirty="0" err="1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fleet_mark_bike_fixed</a:t>
            </a:r>
            <a:r>
              <a:rPr lang="en-US" sz="15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{"bike_id": 3}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DB actually changed: bike #3 → </a:t>
            </a: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its tickets → </a:t>
            </a: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· Agents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745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Chatbot: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talk, it answers.  </a:t>
            </a:r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give a GOAL, it works</a:t>
            </a:r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loop: </a:t>
            </a: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→ decide → act → repeat</a:t>
            </a:r>
            <a:r>
              <a:rPr lang="en-US" sz="1600" dirty="0"/>
              <a:t> </a:t>
            </a:r>
          </a:p>
          <a:p>
            <a:pPr lvl="1"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steps: 20</a:t>
            </a:r>
            <a:r>
              <a:rPr lang="en-US" sz="1600" b="1" dirty="0"/>
              <a:t> </a:t>
            </a: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the safety fuse · permissions:</a:t>
            </a:r>
          </a:p>
          <a:p>
            <a:pPr lvl="1">
              <a:lnSpc>
                <a:spcPct val="140000"/>
              </a:lnSpc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lnSpc>
                <a:spcPct val="14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allow / deny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· DEMO: let it loose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demos/m4-agent</a:t>
            </a: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session  </a:t>
            </a: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M4 — Autonomous agent: resolves all tickets in a loop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635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 all pending maintenance tickets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11274552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loop: </a:t>
            </a: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→ assign → fix ×3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(ticket #4 closes along the way)</a:t>
            </a:r>
            <a:endParaRPr lang="en-US" sz="15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</a:t>
            </a: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BY ITSELF</a:t>
            </a:r>
            <a:r>
              <a:rPr lang="en-US" sz="1500" b="1" dirty="0"/>
              <a:t> 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none remain 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YOU:  </a:t>
            </a: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/module-4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111827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3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built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(context)</a:t>
            </a: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(grounding)</a:t>
            </a: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(tools)</a:t>
            </a: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(agents)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90% of modern AI engineering.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760720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5989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x</a:t>
            </a:r>
            <a:r>
              <a:rPr lang="en-US" sz="900" b="1" dirty="0">
                <a:solidFill>
                  <a:srgbClr val="22C55E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P</a:t>
            </a:r>
            <a:r>
              <a:rPr lang="en-US" sz="9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2286000"/>
            <a:ext cx="85313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go build.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828800" y="530352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566928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materials: github repo · opencode.ai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2555</Words>
  <Application>Microsoft Macintosh PowerPoint</Application>
  <PresentationFormat>Widescreen</PresentationFormat>
  <Paragraphs>220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Arial Black</vt:lpstr>
      <vt:lpstr>Arial Bold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xPegy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E-Bike Fleet Manager — Workshop</dc:title>
  <dc:subject>PptxGenJS Presentation</dc:subject>
  <dc:creator>xPegy</dc:creator>
  <cp:lastModifiedBy>Javier Peñalver</cp:lastModifiedBy>
  <cp:revision>3</cp:revision>
  <dcterms:created xsi:type="dcterms:W3CDTF">2026-07-23T19:28:12Z</dcterms:created>
  <dcterms:modified xsi:type="dcterms:W3CDTF">2026-07-24T08:30:56Z</dcterms:modified>
</cp:coreProperties>
</file>